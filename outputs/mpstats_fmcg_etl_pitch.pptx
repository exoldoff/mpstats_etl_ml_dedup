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slides/charts/chart1.xml" ContentType="application/vnd.openxmlformats-officedocument.drawingml.chart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slides/charts/chart2.xml" ContentType="application/vnd.openxmlformats-officedocument.drawingml.chart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41bfe5e7f204620" /><Relationship Type="http://schemas.openxmlformats.org/officeDocument/2006/relationships/extended-properties" Target="/docProps/app.xml" Id="Rf0b18a3dfe324e15" /><Relationship Type="http://schemas.openxmlformats.org/officeDocument/2006/relationships/officeDocument" Target="/ppt/presentation.xml" Id="R206ba780388b413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69105af7ed34314"/>
  </p:sldMasterIdLst>
  <p:notesMasterIdLst>
    <p:notesMasterId xmlns:r="http://schemas.openxmlformats.org/officeDocument/2006/relationships" r:id="R588fbf5e33ca4e70"/>
  </p:notesMasterIdLst>
  <p:sldIdLst>
    <p:sldId xmlns:r="http://schemas.openxmlformats.org/officeDocument/2006/relationships" id="256" r:id="R420abe54bbb24dc3"/>
    <p:sldId xmlns:r="http://schemas.openxmlformats.org/officeDocument/2006/relationships" id="257" r:id="R4ab000ae2a2e4527"/>
    <p:sldId xmlns:r="http://schemas.openxmlformats.org/officeDocument/2006/relationships" id="258" r:id="Rf4c387889ceb45d6"/>
    <p:sldId xmlns:r="http://schemas.openxmlformats.org/officeDocument/2006/relationships" id="259" r:id="R62eb765948a54cbe"/>
    <p:sldId xmlns:r="http://schemas.openxmlformats.org/officeDocument/2006/relationships" id="260" r:id="R2215ddccad054aa8"/>
    <p:sldId xmlns:r="http://schemas.openxmlformats.org/officeDocument/2006/relationships" id="261" r:id="Re7c87fc6bee34de6"/>
    <p:sldId xmlns:r="http://schemas.openxmlformats.org/officeDocument/2006/relationships" id="262" r:id="Ra06098aac3e64c57"/>
    <p:sldId xmlns:r="http://schemas.openxmlformats.org/officeDocument/2006/relationships" id="263" r:id="Rc268f67730ae4b77"/>
    <p:sldId xmlns:r="http://schemas.openxmlformats.org/officeDocument/2006/relationships" id="264" r:id="R0b3345bb9252480f"/>
    <p:sldId xmlns:r="http://schemas.openxmlformats.org/officeDocument/2006/relationships" id="265" r:id="Rcd64fe17b90342d0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9d016cef8a84740" /><Relationship Type="http://schemas.openxmlformats.org/officeDocument/2006/relationships/slideMaster" Target="/ppt/slideMasters/slideMaster1.xml" Id="Re69105af7ed34314" /><Relationship Type="http://schemas.openxmlformats.org/officeDocument/2006/relationships/notesMaster" Target="/ppt/notesMasters/notesMaster1.xml" Id="R588fbf5e33ca4e70" /><Relationship Type="http://schemas.openxmlformats.org/officeDocument/2006/relationships/presProps" Target="/ppt/presProps.xml" Id="R9f316d3884834f92" /><Relationship Type="http://schemas.openxmlformats.org/officeDocument/2006/relationships/tableStyles" Target="/ppt/tableStyles.xml" Id="R7588a7a4e6f0438f" /><Relationship Type="http://schemas.openxmlformats.org/officeDocument/2006/relationships/slide" Target="/ppt/slides/slide1.xml" Id="R420abe54bbb24dc3" /><Relationship Type="http://schemas.openxmlformats.org/officeDocument/2006/relationships/slide" Target="/ppt/slides/slide2.xml" Id="R4ab000ae2a2e4527" /><Relationship Type="http://schemas.openxmlformats.org/officeDocument/2006/relationships/slide" Target="/ppt/slides/slide3.xml" Id="Rf4c387889ceb45d6" /><Relationship Type="http://schemas.openxmlformats.org/officeDocument/2006/relationships/slide" Target="/ppt/slides/slide4.xml" Id="R62eb765948a54cbe" /><Relationship Type="http://schemas.openxmlformats.org/officeDocument/2006/relationships/slide" Target="/ppt/slides/slide5.xml" Id="R2215ddccad054aa8" /><Relationship Type="http://schemas.openxmlformats.org/officeDocument/2006/relationships/slide" Target="/ppt/slides/slide6.xml" Id="Re7c87fc6bee34de6" /><Relationship Type="http://schemas.openxmlformats.org/officeDocument/2006/relationships/slide" Target="/ppt/slides/slide7.xml" Id="Ra06098aac3e64c57" /><Relationship Type="http://schemas.openxmlformats.org/officeDocument/2006/relationships/slide" Target="/ppt/slides/slide8.xml" Id="Rc268f67730ae4b77" /><Relationship Type="http://schemas.openxmlformats.org/officeDocument/2006/relationships/slide" Target="/ppt/slides/slide9.xml" Id="R0b3345bb9252480f" /><Relationship Type="http://schemas.openxmlformats.org/officeDocument/2006/relationships/slide" Target="/ppt/slides/slide10.xml" Id="Rcd64fe17b90342d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7ea017ac2d4476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90d06eebc734195" /><Relationship Type="http://schemas.openxmlformats.org/officeDocument/2006/relationships/notesMaster" Target="/ppt/notesMasters/notesMaster1.xml" Id="R976c8170f1754b71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1307096bbc144f05" /><Relationship Type="http://schemas.openxmlformats.org/officeDocument/2006/relationships/notesMaster" Target="/ppt/notesMasters/notesMaster1.xml" Id="Rb8503ce936de493f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d45b8d179f234129" /><Relationship Type="http://schemas.openxmlformats.org/officeDocument/2006/relationships/notesMaster" Target="/ppt/notesMasters/notesMaster1.xml" Id="R4bac864201fe4487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10b7654740ab4f83" /><Relationship Type="http://schemas.openxmlformats.org/officeDocument/2006/relationships/notesMaster" Target="/ppt/notesMasters/notesMaster1.xml" Id="R0a597ebf9cdd4c6e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8d6db49bb96244bc" /><Relationship Type="http://schemas.openxmlformats.org/officeDocument/2006/relationships/notesMaster" Target="/ppt/notesMasters/notesMaster1.xml" Id="R7d0cf39d9f8c48d0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70217450808147f1" /><Relationship Type="http://schemas.openxmlformats.org/officeDocument/2006/relationships/notesMaster" Target="/ppt/notesMasters/notesMaster1.xml" Id="Rab078ca53b384a79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b1deb262b2b943b0" /><Relationship Type="http://schemas.openxmlformats.org/officeDocument/2006/relationships/notesMaster" Target="/ppt/notesMasters/notesMaster1.xml" Id="Rfd2311db19d9439d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3dde618ef6f14ced" /><Relationship Type="http://schemas.openxmlformats.org/officeDocument/2006/relationships/notesMaster" Target="/ppt/notesMasters/notesMaster1.xml" Id="Rd45229647930437b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0c0261960ed446ba" /><Relationship Type="http://schemas.openxmlformats.org/officeDocument/2006/relationships/notesMaster" Target="/ppt/notesMasters/notesMaster1.xml" Id="Rc8243161c1ef4fb2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5358a299cc8b40aa" /><Relationship Type="http://schemas.openxmlformats.org/officeDocument/2006/relationships/notesMaster" Target="/ppt/notesMasters/notesMaster1.xml" Id="R6b18778fdfe7401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e9579c1bd8a4b3c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e2dd697c28545e3" /><Relationship Type="http://schemas.openxmlformats.org/officeDocument/2006/relationships/slideLayout" Target="/ppt/slideLayouts/slideLayout1.xml" Id="R3c63f60d422a40b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c63f60d422a40b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25cb85d0a4f4920" /><Relationship Type="http://schemas.openxmlformats.org/officeDocument/2006/relationships/image" Target="/ppt/media/image.png" Id="R816adeecf4224489" /><Relationship Type="http://schemas.openxmlformats.org/officeDocument/2006/relationships/notesSlide" Target="/ppt/notesSlides/notesSlide1.xml" Id="R1d2dd6dd01e44b0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6d3dc285a6c4786" /><Relationship Type="http://schemas.openxmlformats.org/officeDocument/2006/relationships/image" Target="/ppt/media/image2.png" Id="R53f5282cc8f944fe" /><Relationship Type="http://schemas.openxmlformats.org/officeDocument/2006/relationships/notesSlide" Target="/ppt/notesSlides/notesSlide2.xml" Id="R67fe6da567304e45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a60a80afaf34ba9" /><Relationship Type="http://schemas.openxmlformats.org/officeDocument/2006/relationships/image" Target="/ppt/media/image3.png" Id="Re38aa174d9af4931" /><Relationship Type="http://schemas.openxmlformats.org/officeDocument/2006/relationships/notesSlide" Target="/ppt/notesSlides/notesSlide3.xml" Id="R35b595959b184589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41bc7b571d54c01" /><Relationship Type="http://schemas.openxmlformats.org/officeDocument/2006/relationships/image" Target="/ppt/media/image4.png" Id="R236e0970c97b4875" /><Relationship Type="http://schemas.openxmlformats.org/officeDocument/2006/relationships/notesSlide" Target="/ppt/notesSlides/notesSlide4.xml" Id="Rdc9478e7ee97401f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784bd2c36ac47db" /><Relationship Type="http://schemas.openxmlformats.org/officeDocument/2006/relationships/image" Target="/ppt/media/image5.png" Id="Rdafa4b4d9509423a" /><Relationship Type="http://schemas.openxmlformats.org/officeDocument/2006/relationships/notesSlide" Target="/ppt/notesSlides/notesSlide5.xml" Id="R90e0a276c5ef4054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02e2ef6cb2d4b49" /><Relationship Type="http://schemas.openxmlformats.org/officeDocument/2006/relationships/image" Target="/ppt/media/image6.png" Id="Rae103886e6464292" /><Relationship Type="http://schemas.openxmlformats.org/officeDocument/2006/relationships/chart" Target="/ppt/slides/charts/chart1.xml" Id="Ra43548c9fa004ab0" /><Relationship Type="http://schemas.openxmlformats.org/officeDocument/2006/relationships/notesSlide" Target="/ppt/notesSlides/notesSlide6.xml" Id="R6cdfa2d3eb254595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d366f196a954aad" /><Relationship Type="http://schemas.openxmlformats.org/officeDocument/2006/relationships/image" Target="/ppt/media/image7.png" Id="R139a6011935d4351" /><Relationship Type="http://schemas.openxmlformats.org/officeDocument/2006/relationships/chart" Target="/ppt/slides/charts/chart2.xml" Id="Rf862747773354514" /><Relationship Type="http://schemas.openxmlformats.org/officeDocument/2006/relationships/notesSlide" Target="/ppt/notesSlides/notesSlide7.xml" Id="Re3dbc0c582f2491e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c09100a56f641b9" /><Relationship Type="http://schemas.openxmlformats.org/officeDocument/2006/relationships/image" Target="/ppt/media/image8.png" Id="R0f5a054074cb463a" /><Relationship Type="http://schemas.openxmlformats.org/officeDocument/2006/relationships/notesSlide" Target="/ppt/notesSlides/notesSlide8.xml" Id="R79f56fe0b2c74cc7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9e698dec68541ea" /><Relationship Type="http://schemas.openxmlformats.org/officeDocument/2006/relationships/image" Target="/ppt/media/image9.png" Id="R17a2c6d6e4204557" /><Relationship Type="http://schemas.openxmlformats.org/officeDocument/2006/relationships/notesSlide" Target="/ppt/notesSlides/notesSlide9.xml" Id="Rbefa3de93ecd4446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bd1c214878b4bf1" /><Relationship Type="http://schemas.openxmlformats.org/officeDocument/2006/relationships/image" Target="/ppt/media/image10.png" Id="R64287bac5d384a9e" /><Relationship Type="http://schemas.openxmlformats.org/officeDocument/2006/relationships/notesSlide" Target="/ppt/notesSlides/notesSlide10.xml" Id="Ree0509eb0ff54459" /></Relationships>
</file>

<file path=ppt/slides/charts/chart1.xml><?xml version="1.0" encoding="utf-8"?>
<c:chartSpace xmlns:c="http://schemas.openxmlformats.org/drawingml/2006/chart">
  <c:lang val="en-US"/>
  <c:chart>
    <c:plotArea>
      <c:barChart>
        <c:barDir val="bar"/>
        <c:grouping val="clustered"/>
        <c:varyColors val="0"/>
        <c:ser>
          <c:idx val="0"/>
          <c:order val="0"/>
          <c:tx>
            <c:v>recall@20</c:v>
          </c:tx>
          <c:spPr>
            <a:solidFill xmlns:a="http://schemas.openxmlformats.org/drawingml/2006/main">
              <a:srgbClr val="1F3296"/>
            </a:solidFill>
          </c:spPr>
          <c:dLbls/>
          <c:cat>
            <c:strLit>
              <c:ptCount val="3"/>
              <c:pt idx="0">
                <c:v>E5</c:v>
              </c:pt>
              <c:pt idx="1">
                <c:v>FRIDA</c:v>
              </c:pt>
              <c:pt idx="2">
                <c:v>RuBERT</c:v>
              </c:pt>
            </c:strLit>
          </c:cat>
          <c:val>
            <c:numLit>
              <c:formatCode>General</c:formatCode>
              <c:ptCount val="3"/>
              <c:pt idx="0">
                <c:v>100</c:v>
              </c:pt>
              <c:pt idx="1">
                <c:v>87.16</c:v>
              </c:pt>
              <c:pt idx="2">
                <c:v>76.35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900" b="1">
                  <a:solidFill>
                    <a:srgbClr val="0B1644"/>
                  </a:solidFill>
                </a:defRPr>
              </a:pPr>
            </a:p>
          </c:txPr>
          <c:dLblPos val="outEnd"/>
          <c:showVal val="1"/>
        </c:dLbls>
        <c:gapWidth val="60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72768"/>
        <c:crosses val="autoZero"/>
        <c:lblAlgn val="ctr"/>
        <c:lblOffset val="100"/>
        <c:noMultiLvlLbl val="0"/>
      </c:catAx>
      <c:valAx>
        <c:axId val="48672768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111827"/>
                </a:solidFill>
              </a:defRPr>
            </a:pPr>
          </a:p>
        </c:txPr>
        <c:crossAx val="48650112"/>
        <c:crosses val="autoZero"/>
        <c:crossBetween val="between"/>
      </c:valAx>
      <c:spPr>
        <a:noFill xmlns:a="http://schemas.openxmlformats.org/drawingml/2006/main"/>
        <a:ln xmlns:a="http://schemas.openxmlformats.org/drawingml/2006/main" w="0">
          <a:noFill/>
          <a:prstDash val="solid"/>
        </a:ln>
      </c:spPr>
    </c:plotArea>
    <c:plotVisOnly val="1"/>
  </c:chart>
  <c:spPr>
    <a:noFill xmlns:a="http://schemas.openxmlformats.org/drawingml/2006/main"/>
  </c:spPr>
</c:chartSpace>
</file>

<file path=ppt/slides/charts/chart2.xml><?xml version="1.0" encoding="utf-8"?>
<c:chartSpace xmlns:c="http://schemas.openxmlformats.org/drawingml/2006/chart">
  <c:lang val="en-US"/>
  <c:chart>
    <c:plotArea>
      <c:barChart>
        <c:barDir val="bar"/>
        <c:grouping val="clustered"/>
        <c:varyColors val="0"/>
        <c:ser>
          <c:idx val="0"/>
          <c:order val="0"/>
          <c:tx>
            <c:v>F1</c:v>
          </c:tx>
          <c:spPr>
            <a:solidFill xmlns:a="http://schemas.openxmlformats.org/drawingml/2006/main">
              <a:srgbClr val="1F3296"/>
            </a:solidFill>
          </c:spPr>
          <c:dLbls/>
          <c:cat>
            <c:strLit>
              <c:ptCount val="4"/>
              <c:pt idx="0">
                <c:v>Fine-tuned BGE</c:v>
              </c:pt>
              <c:pt idx="1">
                <c:v>BGE zero-shot</c:v>
              </c:pt>
              <c:pt idx="2">
                <c:v>E5 zero-shot</c:v>
              </c:pt>
              <c:pt idx="3">
                <c:v>Rule-based</c:v>
              </c:pt>
            </c:strLit>
          </c:cat>
          <c:val>
            <c:numLit>
              <c:formatCode>General</c:formatCode>
              <c:ptCount val="4"/>
              <c:pt idx="0">
                <c:v>89.7</c:v>
              </c:pt>
              <c:pt idx="1">
                <c:v>35.5</c:v>
              </c:pt>
              <c:pt idx="2">
                <c:v>21.6</c:v>
              </c:pt>
              <c:pt idx="3">
                <c:v>36.4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900" b="1">
                  <a:solidFill>
                    <a:srgbClr val="0B1644"/>
                  </a:solidFill>
                </a:defRPr>
              </a:pPr>
            </a:p>
          </c:txPr>
          <c:dLblPos val="outEnd"/>
          <c:showVal val="1"/>
        </c:dLbls>
        <c:gapWidth val="45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72768"/>
        <c:crosses val="autoZero"/>
        <c:lblAlgn val="ctr"/>
        <c:lblOffset val="100"/>
        <c:noMultiLvlLbl val="0"/>
      </c:catAx>
      <c:valAx>
        <c:axId val="48672768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111827"/>
                </a:solidFill>
              </a:defRPr>
            </a:pPr>
          </a:p>
        </c:txPr>
        <c:crossAx val="48650112"/>
        <c:crosses val="autoZero"/>
        <c:crossBetween val="between"/>
      </c:valAx>
      <c:spPr>
        <a:noFill xmlns:a="http://schemas.openxmlformats.org/drawingml/2006/main"/>
        <a:ln xmlns:a="http://schemas.openxmlformats.org/drawingml/2006/main" w="0">
          <a:noFill/>
          <a:prstDash val="solid"/>
        </a:ln>
      </c:spPr>
    </c:plotArea>
    <c:plotVisOnly val="1"/>
  </c:chart>
  <c:spPr>
    <a:noFill xmlns:a="http://schemas.openxmlformats.org/drawingml/2006/main"/>
  </c:spPr>
</c:chartSpace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16adeecf4224489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2C59CF4-A2D8-480E-8724-8EBEB58162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171450"/>
            <a:ext cx="11811000" cy="651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0478">
            <a:solidFill>
              <a:srgbClr val="7E42F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33A672C-5181-423D-964E-78CFEF4C4F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171450"/>
            <a:ext cx="11811000" cy="6515100"/>
          </a:xfrm>
          <a:prstGeom xmlns:a="http://schemas.openxmlformats.org/drawingml/2006/main" prst="roundRect">
            <a:avLst>
              <a:gd name="adj" fmla="val 5263"/>
            </a:avLst>
          </a:prstGeom>
          <a:noFill xmlns:a="http://schemas.openxmlformats.org/drawingml/2006/main"/>
          <a:ln xmlns:a="http://schemas.openxmlformats.org/drawingml/2006/main" w="13335">
            <a:solidFill>
              <a:srgbClr val="1F3296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C36F599-7AC4-46A9-96A2-01B1FB674B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" y="457200"/>
            <a:ext cx="2476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@exoldoff | JMLC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D96ED12-62CE-4432-B0C8-0AFF1A6C28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381000"/>
            <a:ext cx="1047750" cy="419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B1644"/>
          </a:solidFill>
          <a:ln xmlns:a="http://schemas.openxmlformats.org/drawingml/2006/main" w="9525">
            <a:solidFill>
              <a:srgbClr val="0B164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2026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4BB1030-071A-4C96-B9EA-D2DE2745D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09550" y="325755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1644"/>
          </a:solidFill>
          <a:ln xmlns:a="http://schemas.openxmlformats.org/drawingml/2006/main" w="0">
            <a:solidFill>
              <a:srgbClr val="0B1644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4652CEF-457B-48CD-A700-AD128F5A7A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71450" y="3209925"/>
            <a:ext cx="3429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3150" b="1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pPr>
            <a:r>
              <a:rPr sz="3150" b="1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*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0E28979-CD91-4D16-8483-989B27B30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82450" y="325755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1644"/>
          </a:solidFill>
          <a:ln xmlns:a="http://schemas.openxmlformats.org/drawingml/2006/main" w="0">
            <a:solidFill>
              <a:srgbClr val="0B1644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3E2E069-BB68-4FFF-8D0A-EC16606042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20550" y="3209925"/>
            <a:ext cx="3429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3150" b="1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pPr>
            <a:r>
              <a:rPr sz="3150" b="1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*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F5B5CB6-7BB9-4FC8-9BAC-885DC55E5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885825"/>
            <a:ext cx="438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50555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50555F"/>
                </a:solidFill>
                <a:latin typeface="Aptos"/>
                <a:ea typeface="Aptos"/>
                <a:cs typeface="Aptos"/>
              </a:rPr>
              <a:t>pitch deck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BC4EA0E-3450-469A-A0BE-352200264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153150"/>
            <a:ext cx="419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0555F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0555F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FF5510E-3902-44FA-89CC-AC5A3D575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104900"/>
            <a:ext cx="10668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400" b="1">
                <a:solidFill>
                  <a:srgbClr val="0B1644"/>
                </a:solidFill>
                <a:latin typeface="Georgia"/>
                <a:ea typeface="Georgia"/>
                <a:cs typeface="Georgia"/>
              </a:defRPr>
            </a:pPr>
            <a:r>
              <a:rPr sz="8400" b="1">
                <a:solidFill>
                  <a:srgbClr val="0B1644"/>
                </a:solidFill>
                <a:latin typeface="Georgia"/>
                <a:ea typeface="Georgia"/>
                <a:cs typeface="Georgia"/>
              </a:rPr>
              <a:t>*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84059DE-050F-4EF8-A0CF-F76C824DBF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2700000">
            <a:off x="9001125" y="4953000"/>
            <a:ext cx="1190625" cy="8572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B1644"/>
          </a:solidFill>
          <a:ln xmlns:a="http://schemas.openxmlformats.org/drawingml/2006/main" w="0">
            <a:solidFill>
              <a:srgbClr val="0B1644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724B6D4-86D5-4569-871A-65733414CF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352550"/>
            <a:ext cx="58102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5400" b="1">
                <a:solidFill>
                  <a:srgbClr val="1F3296"/>
                </a:solidFill>
                <a:latin typeface="Georgia"/>
                <a:ea typeface="Georgia"/>
                <a:cs typeface="Georgia"/>
              </a:defRPr>
            </a:pPr>
            <a:r>
              <a:rPr sz="5400" b="1">
                <a:solidFill>
                  <a:srgbClr val="1F3296"/>
                </a:solidFill>
                <a:latin typeface="Georgia"/>
                <a:ea typeface="Georgia"/>
                <a:cs typeface="Georgia"/>
              </a:rPr>
              <a:t>MPstats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C94EDA7-A304-4850-8AF4-85C4A85EE0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133600"/>
            <a:ext cx="6858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5400" b="1">
                <a:solidFill>
                  <a:srgbClr val="1F3296"/>
                </a:solidFill>
                <a:latin typeface="Georgia"/>
                <a:ea typeface="Georgia"/>
                <a:cs typeface="Georgia"/>
              </a:defRPr>
            </a:pPr>
            <a:r>
              <a:rPr sz="5400" b="1">
                <a:solidFill>
                  <a:srgbClr val="1F3296"/>
                </a:solidFill>
                <a:latin typeface="Georgia"/>
                <a:ea typeface="Georgia"/>
                <a:cs typeface="Georgia"/>
              </a:rPr>
              <a:t>FMCG ETL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9CB5B2F-6C61-4DB7-BDAF-B3711A0E64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333750"/>
            <a:ext cx="6191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0B1644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0B1644"/>
                </a:solidFill>
                <a:latin typeface="Aptos"/>
                <a:ea typeface="Aptos"/>
                <a:cs typeface="Aptos"/>
              </a:rPr>
              <a:t>Локальный куб MPStats и ML-дедуп SKU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C0B251C-F0D6-4AA4-B3E8-D593B1D7D6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905250"/>
            <a:ext cx="58102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От выгрузок маркетплейсов до нормализованных товарных групп без потери фактовых строк.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44F0A6C-5641-4B79-A424-32FBE1C6DB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952750"/>
            <a:ext cx="2952750" cy="1676400"/>
          </a:xfrm>
          <a:prstGeom xmlns:a="http://schemas.openxmlformats.org/drawingml/2006/main" prst="roundRect">
            <a:avLst>
              <a:gd name="adj" fmla="val 13636"/>
            </a:avLst>
          </a:prstGeom>
          <a:noFill xmlns:a="http://schemas.openxmlformats.org/drawingml/2006/main"/>
          <a:ln xmlns:a="http://schemas.openxmlformats.org/drawingml/2006/main" w="15240">
            <a:solidFill>
              <a:srgbClr val="1F3296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D0E10AE-F272-490E-96B5-59D62BB0AE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3181350"/>
            <a:ext cx="2381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B1644"/>
                </a:solidFill>
                <a:latin typeface="Georgia"/>
                <a:ea typeface="Georgia"/>
                <a:cs typeface="Georgia"/>
              </a:defRPr>
            </a:pPr>
            <a:r>
              <a:rPr sz="2850" b="1">
                <a:solidFill>
                  <a:srgbClr val="0B1644"/>
                </a:solidFill>
                <a:latin typeface="Georgia"/>
                <a:ea typeface="Georgia"/>
                <a:cs typeface="Georgia"/>
              </a:rPr>
              <a:t>full path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01283A7-2558-427E-921D-70AD60A6EA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3676650"/>
            <a:ext cx="2381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0555F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0555F"/>
                </a:solidFill>
                <a:latin typeface="Aptos"/>
                <a:ea typeface="Aptos"/>
                <a:cs typeface="Aptos"/>
              </a:rPr>
              <a:t>API → куб → отчеты → ML identity layer</a:t>
            </a:r>
          </a:p>
        </p:txBody>
      </p:sp>
    </p:spTree>
    <p:extLst>
      <p:ext uri="{BB962C8B-B14F-4D97-AF65-F5344CB8AC3E}">
        <p14:creationId xmlns:p14="http://schemas.microsoft.com/office/powerpoint/2010/main" val="250737754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3f5282cc8f944fe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D6517EA-C781-4FE4-A494-1D55D665C4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171450"/>
            <a:ext cx="11811000" cy="651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0478">
            <a:solidFill>
              <a:srgbClr val="7E42F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AC143B9-5CCF-488A-8078-2EBECA19E2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171450"/>
            <a:ext cx="11811000" cy="6515100"/>
          </a:xfrm>
          <a:prstGeom xmlns:a="http://schemas.openxmlformats.org/drawingml/2006/main" prst="roundRect">
            <a:avLst>
              <a:gd name="adj" fmla="val 5263"/>
            </a:avLst>
          </a:prstGeom>
          <a:noFill xmlns:a="http://schemas.openxmlformats.org/drawingml/2006/main"/>
          <a:ln xmlns:a="http://schemas.openxmlformats.org/drawingml/2006/main" w="13335">
            <a:solidFill>
              <a:srgbClr val="1F3296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36315CB-9C7D-49D7-AC6D-5C7D11899B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" y="457200"/>
            <a:ext cx="2476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@exoldoff | JMLC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51AE019-2A4F-4AAA-A2E4-3A88D8822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381000"/>
            <a:ext cx="1047750" cy="419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B1644"/>
          </a:solidFill>
          <a:ln xmlns:a="http://schemas.openxmlformats.org/drawingml/2006/main" w="9525">
            <a:solidFill>
              <a:srgbClr val="0B164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2026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DC283B3-B814-421B-A084-15802F8D06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09550" y="325755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1644"/>
          </a:solidFill>
          <a:ln xmlns:a="http://schemas.openxmlformats.org/drawingml/2006/main" w="0">
            <a:solidFill>
              <a:srgbClr val="0B1644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2338A4A-34C4-43F9-BC73-92FA7D61E9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71450" y="3209925"/>
            <a:ext cx="3429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3150" b="1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pPr>
            <a:r>
              <a:rPr sz="3150" b="1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*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EFACEAC-6F0A-45FD-B9A0-46D93C977C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82450" y="325755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1644"/>
          </a:solidFill>
          <a:ln xmlns:a="http://schemas.openxmlformats.org/drawingml/2006/main" w="0">
            <a:solidFill>
              <a:srgbClr val="0B1644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B655E0F-EF5D-4D74-B796-1DFD00F47B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20550" y="3209925"/>
            <a:ext cx="3429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3150" b="1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pPr>
            <a:r>
              <a:rPr sz="3150" b="1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*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9DC596D-0422-4E40-8F5D-3772540E4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885825"/>
            <a:ext cx="438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50555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50555F"/>
                </a:solidFill>
                <a:latin typeface="Aptos"/>
                <a:ea typeface="Aptos"/>
                <a:cs typeface="Aptos"/>
              </a:rPr>
              <a:t>почему это больно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B536E97-11FD-4C80-BDE7-20853A3669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153150"/>
            <a:ext cx="419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0555F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0555F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A954880-A54E-47CC-8255-27CF4B5D27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200150"/>
            <a:ext cx="87630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F3296"/>
                </a:solidFill>
                <a:latin typeface="Georgia"/>
                <a:ea typeface="Georgia"/>
                <a:cs typeface="Georgia"/>
              </a:defRPr>
            </a:pPr>
            <a:r>
              <a:rPr sz="3300" b="1">
                <a:solidFill>
                  <a:srgbClr val="1F3296"/>
                </a:solidFill>
                <a:latin typeface="Georgia"/>
                <a:ea typeface="Georgia"/>
                <a:cs typeface="Georgia"/>
              </a:rPr>
              <a:t>Один товар живет как десятки SKU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FAAC0E4-B0F3-422A-8D0D-4EE2A8D60A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00300"/>
            <a:ext cx="8096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MPStats честно показывает карточки, но бизнесу нужен базовый товар и фасовка.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CBEF7AA-297C-4AF3-A628-AB6DC6C20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2700000">
            <a:off x="1952625" y="3162300"/>
            <a:ext cx="895350" cy="644652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B1644"/>
          </a:solidFill>
          <a:ln xmlns:a="http://schemas.openxmlformats.org/drawingml/2006/main" w="0">
            <a:solidFill>
              <a:srgbClr val="0B1644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19C6084-B6F2-42ED-9168-BE7DE263DD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3028950"/>
            <a:ext cx="7048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F3296"/>
          </a:solidFill>
          <a:ln xmlns:a="http://schemas.openxmlformats.org/drawingml/2006/main" w="9525">
            <a:solidFill>
              <a:srgbClr val="0B164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Ozon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EDB400B-497A-4E1B-821B-CF1F5CF760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3048000"/>
            <a:ext cx="5429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Масло кокосовое Roi Thai рафинированное 500 мл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5436077-51E1-43C5-89B9-45DFF6AF5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3581400"/>
            <a:ext cx="7048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F3296"/>
          </a:solidFill>
          <a:ln xmlns:a="http://schemas.openxmlformats.org/drawingml/2006/main" w="9525">
            <a:solidFill>
              <a:srgbClr val="0B164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WB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DC54C7E-4305-4AFF-B921-F68C1E8BE7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3600450"/>
            <a:ext cx="5429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Кокосовое масло Roi Thai, 0.5 л, для жарки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692948E-FD03-4DF0-BE35-429EDF79C9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4133850"/>
            <a:ext cx="7048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F3296"/>
          </a:solidFill>
          <a:ln xmlns:a="http://schemas.openxmlformats.org/drawingml/2006/main" w="9525">
            <a:solidFill>
              <a:srgbClr val="0B164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YM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54DA128-3A36-4EDB-B877-A1A07F851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4152900"/>
            <a:ext cx="5429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Roi Thai масло кокосовое раф., бутылка 500ml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4B2A0F3-BC45-4F7D-B269-B3509D193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686300"/>
            <a:ext cx="83820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• продажи дробятся между карточками</a:t>
            </a:r>
          </a:p>
          <a:p xmlns:a="http://schemas.openxmlformats.org/drawingml/2006/main">
            <a:pPr>
              <a:defRPr sz="150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• ассортимент кажется шире реального</a:t>
            </a:r>
          </a:p>
          <a:p xmlns:a="http://schemas.openxmlformats.org/drawingml/2006/main">
            <a:pPr>
              <a:defRPr sz="150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• цена за кг и доли товаров считаются хуже</a:t>
            </a:r>
          </a:p>
          <a:p xmlns:a="http://schemas.openxmlformats.org/drawingml/2006/main">
            <a:pPr>
              <a:defRPr sz="150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• сравнение маркетплейсов становится ручной работой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518AB08-299A-49D8-867B-1B3AB4BDF3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334125"/>
            <a:ext cx="781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B7280"/>
                </a:solidFill>
                <a:latin typeface="Aptos"/>
                <a:ea typeface="Aptos"/>
                <a:cs typeface="Aptos"/>
              </a:rPr>
              <a:t>Источник тезисов: PROJECT_PRESENTATION_FLOW.md</a:t>
            </a:r>
          </a:p>
        </p:txBody>
      </p:sp>
    </p:spTree>
    <p:extLst>
      <p:ext uri="{BB962C8B-B14F-4D97-AF65-F5344CB8AC3E}">
        <p14:creationId xmlns:p14="http://schemas.microsoft.com/office/powerpoint/2010/main" val="1487528817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4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38aa174d9af4931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604465A-6DE5-4F46-804A-2912B2587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171450"/>
            <a:ext cx="11811000" cy="651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0478">
            <a:solidFill>
              <a:srgbClr val="7E42F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AA9B08B-13A3-420C-948C-C8ABF3219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171450"/>
            <a:ext cx="11811000" cy="6515100"/>
          </a:xfrm>
          <a:prstGeom xmlns:a="http://schemas.openxmlformats.org/drawingml/2006/main" prst="roundRect">
            <a:avLst>
              <a:gd name="adj" fmla="val 5263"/>
            </a:avLst>
          </a:prstGeom>
          <a:noFill xmlns:a="http://schemas.openxmlformats.org/drawingml/2006/main"/>
          <a:ln xmlns:a="http://schemas.openxmlformats.org/drawingml/2006/main" w="13335">
            <a:solidFill>
              <a:srgbClr val="1F3296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A289A90-1678-4A4C-A3B4-BAB51B6B27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" y="457200"/>
            <a:ext cx="2476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@exoldoff | JMLC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3A888D8-9892-47D9-A8E5-1F033A4E8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381000"/>
            <a:ext cx="1047750" cy="419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B1644"/>
          </a:solidFill>
          <a:ln xmlns:a="http://schemas.openxmlformats.org/drawingml/2006/main" w="9525">
            <a:solidFill>
              <a:srgbClr val="0B164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2026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8652EDF-C36B-4391-B49F-5B4E428AD6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09550" y="325755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1644"/>
          </a:solidFill>
          <a:ln xmlns:a="http://schemas.openxmlformats.org/drawingml/2006/main" w="0">
            <a:solidFill>
              <a:srgbClr val="0B1644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8C3782C-7748-445E-8044-9A4B61FEE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71450" y="3209925"/>
            <a:ext cx="3429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3150" b="1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pPr>
            <a:r>
              <a:rPr sz="3150" b="1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*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E4709FD-5454-4B4A-AD2F-BD3B5A9568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82450" y="325755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1644"/>
          </a:solidFill>
          <a:ln xmlns:a="http://schemas.openxmlformats.org/drawingml/2006/main" w="0">
            <a:solidFill>
              <a:srgbClr val="0B1644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0FB452D-3775-4ADB-883E-DF357892A3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20550" y="3209925"/>
            <a:ext cx="3429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3150" b="1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pPr>
            <a:r>
              <a:rPr sz="3150" b="1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*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9D1FF62-51D6-44BD-8F2B-A7761EAD8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885825"/>
            <a:ext cx="438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50555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50555F"/>
                </a:solidFill>
                <a:latin typeface="Aptos"/>
                <a:ea typeface="Aptos"/>
                <a:cs typeface="Aptos"/>
              </a:rPr>
              <a:t>что делает продукт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037A056-0B86-4B6E-9DB2-3135F5695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153150"/>
            <a:ext cx="419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0555F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0555F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D5D83C0-A67C-44C2-B402-D81BA1D76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200150"/>
            <a:ext cx="87630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F3296"/>
                </a:solidFill>
                <a:latin typeface="Georgia"/>
                <a:ea typeface="Georgia"/>
                <a:cs typeface="Georgia"/>
              </a:defRPr>
            </a:pPr>
            <a:r>
              <a:rPr sz="3300" b="1">
                <a:solidFill>
                  <a:srgbClr val="1F3296"/>
                </a:solidFill>
                <a:latin typeface="Georgia"/>
                <a:ea typeface="Georgia"/>
                <a:cs typeface="Georgia"/>
              </a:rPr>
              <a:t>Продукт собирает весь путь данных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39E778F-0F37-448E-AFEB-71BAD47B45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00300"/>
            <a:ext cx="8096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Это не notebook и не разовый скрипт: основной сценарий живет в локальной web-app.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9F39CD1-CFBF-49EC-8654-3879D1BD0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190875"/>
            <a:ext cx="1347107" cy="685800"/>
          </a:xfrm>
          <a:prstGeom xmlns:a="http://schemas.openxmlformats.org/drawingml/2006/main" prst="roundRect">
            <a:avLst>
              <a:gd name="adj" fmla="val 25000"/>
            </a:avLst>
          </a:prstGeom>
          <a:noFill xmlns:a="http://schemas.openxmlformats.org/drawingml/2006/main"/>
          <a:ln xmlns:a="http://schemas.openxmlformats.org/drawingml/2006/main" w="13335">
            <a:solidFill>
              <a:srgbClr val="1F3296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189409E-E5F0-4543-AF99-A33EC60350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343275"/>
            <a:ext cx="1156607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F3296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F3296"/>
                </a:solidFill>
                <a:latin typeface="Aptos"/>
                <a:ea typeface="Aptos"/>
                <a:cs typeface="Aptos"/>
              </a:rPr>
              <a:t>MPStats API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1EC2E91-345F-447E-9B31-944D770AA0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1482" y="3352800"/>
            <a:ext cx="19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0B1644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0B1644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E5D8C34-49C4-4341-AB83-3B6AE3920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85307" y="3190875"/>
            <a:ext cx="1347107" cy="685800"/>
          </a:xfrm>
          <a:prstGeom xmlns:a="http://schemas.openxmlformats.org/drawingml/2006/main" prst="roundRect">
            <a:avLst>
              <a:gd name="adj" fmla="val 25000"/>
            </a:avLst>
          </a:prstGeom>
          <a:noFill xmlns:a="http://schemas.openxmlformats.org/drawingml/2006/main"/>
          <a:ln xmlns:a="http://schemas.openxmlformats.org/drawingml/2006/main" w="13335">
            <a:solidFill>
              <a:srgbClr val="1F3296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0DEF7D6-F0B1-4FD8-A4F8-991CEE4D6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0557" y="3343275"/>
            <a:ext cx="1156607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F3296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F3296"/>
                </a:solidFill>
                <a:latin typeface="Aptos"/>
                <a:ea typeface="Aptos"/>
                <a:cs typeface="Aptos"/>
              </a:rPr>
              <a:t>raw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0E03ED1-EB57-4C2F-8AEB-86C7AE47B3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3839" y="3352800"/>
            <a:ext cx="19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0B1644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0B1644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982F165-8CFE-4543-863C-D08D732A91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7664" y="3190875"/>
            <a:ext cx="1347107" cy="685800"/>
          </a:xfrm>
          <a:prstGeom xmlns:a="http://schemas.openxmlformats.org/drawingml/2006/main" prst="roundRect">
            <a:avLst>
              <a:gd name="adj" fmla="val 25000"/>
            </a:avLst>
          </a:prstGeom>
          <a:noFill xmlns:a="http://schemas.openxmlformats.org/drawingml/2006/main"/>
          <a:ln xmlns:a="http://schemas.openxmlformats.org/drawingml/2006/main" w="13335">
            <a:solidFill>
              <a:srgbClr val="1F3296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E30CBC9-067E-4E75-9B61-93A57AD7F3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22914" y="3343275"/>
            <a:ext cx="1156607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F3296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F3296"/>
                </a:solidFill>
                <a:latin typeface="Aptos"/>
                <a:ea typeface="Aptos"/>
                <a:cs typeface="Aptos"/>
              </a:rPr>
              <a:t>processed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A43E73D-D3C9-4B0B-9A9C-3DCC5F54BA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46196" y="3352800"/>
            <a:ext cx="19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0B1644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0B1644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CD5319B-260F-4840-80EF-1BEE7F047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0021" y="3190875"/>
            <a:ext cx="1347107" cy="685800"/>
          </a:xfrm>
          <a:prstGeom xmlns:a="http://schemas.openxmlformats.org/drawingml/2006/main" prst="roundRect">
            <a:avLst>
              <a:gd name="adj" fmla="val 25000"/>
            </a:avLst>
          </a:prstGeom>
          <a:noFill xmlns:a="http://schemas.openxmlformats.org/drawingml/2006/main"/>
          <a:ln xmlns:a="http://schemas.openxmlformats.org/drawingml/2006/main" w="13335">
            <a:solidFill>
              <a:srgbClr val="1F3296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690D155-7124-4EF7-B4F4-9361DFEB6C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5271" y="3343275"/>
            <a:ext cx="1156607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F3296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F3296"/>
                </a:solidFill>
                <a:latin typeface="Aptos"/>
                <a:ea typeface="Aptos"/>
                <a:cs typeface="Aptos"/>
              </a:rPr>
              <a:t>classified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2CE9B99-9DB0-4FAB-8149-60119AED55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8554" y="3352800"/>
            <a:ext cx="19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0B1644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0B1644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D3819C1-416C-49AF-ADC3-A3468C4651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2379" y="3190875"/>
            <a:ext cx="1347107" cy="685800"/>
          </a:xfrm>
          <a:prstGeom xmlns:a="http://schemas.openxmlformats.org/drawingml/2006/main" prst="roundRect">
            <a:avLst>
              <a:gd name="adj" fmla="val 25000"/>
            </a:avLst>
          </a:prstGeom>
          <a:noFill xmlns:a="http://schemas.openxmlformats.org/drawingml/2006/main"/>
          <a:ln xmlns:a="http://schemas.openxmlformats.org/drawingml/2006/main" w="13335">
            <a:solidFill>
              <a:srgbClr val="1F3296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81CF2BB-893B-417C-9190-92AC9514F0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7629" y="3343275"/>
            <a:ext cx="1156607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F3296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F3296"/>
                </a:solidFill>
                <a:latin typeface="Aptos"/>
                <a:ea typeface="Aptos"/>
                <a:cs typeface="Aptos"/>
              </a:rPr>
              <a:t>DuckDB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A3C7E59-3FFA-4B93-BD1A-687770877B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30911" y="3352800"/>
            <a:ext cx="19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0B1644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0B1644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DDD5633-030B-42A4-B40C-742E4959BE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4736" y="3190875"/>
            <a:ext cx="1347107" cy="685800"/>
          </a:xfrm>
          <a:prstGeom xmlns:a="http://schemas.openxmlformats.org/drawingml/2006/main" prst="roundRect">
            <a:avLst>
              <a:gd name="adj" fmla="val 25000"/>
            </a:avLst>
          </a:prstGeom>
          <a:noFill xmlns:a="http://schemas.openxmlformats.org/drawingml/2006/main"/>
          <a:ln xmlns:a="http://schemas.openxmlformats.org/drawingml/2006/main" w="13335">
            <a:solidFill>
              <a:srgbClr val="1F3296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2CE1D04-385B-499A-9535-7FE5BC0E5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9986" y="3343275"/>
            <a:ext cx="1156607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F3296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F3296"/>
                </a:solidFill>
                <a:latin typeface="Aptos"/>
                <a:ea typeface="Aptos"/>
                <a:cs typeface="Aptos"/>
              </a:rPr>
              <a:t>выгрузки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E8C6760-314D-4426-9698-6045983AD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3268" y="3352800"/>
            <a:ext cx="19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0B1644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0B1644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1691151-92FA-435E-BDB4-DA06C4E417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7093" y="3190875"/>
            <a:ext cx="1347107" cy="6858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0B1644"/>
          </a:solidFill>
          <a:ln xmlns:a="http://schemas.openxmlformats.org/drawingml/2006/main" w="13335">
            <a:solidFill>
              <a:srgbClr val="1F3296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B321A8A-CED0-40C3-8300-A6ADC73D1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92343" y="3343275"/>
            <a:ext cx="1156607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ML-дедуп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97FCB642-6CE2-4EA0-AFAD-E7ED5807C0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495800"/>
            <a:ext cx="2476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F3296"/>
                </a:solidFill>
                <a:latin typeface="Georgia"/>
                <a:ea typeface="Georgia"/>
                <a:cs typeface="Georgia"/>
              </a:defRPr>
            </a:pPr>
            <a:r>
              <a:rPr sz="2925" b="1">
                <a:solidFill>
                  <a:srgbClr val="1F3296"/>
                </a:solidFill>
                <a:latin typeface="Georgia"/>
                <a:ea typeface="Georgia"/>
                <a:cs typeface="Georgia"/>
              </a:rPr>
              <a:t>локально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ED84A15F-C393-4D33-9E47-E0CF4D3AA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5048250"/>
            <a:ext cx="2476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0555F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0555F"/>
                </a:solidFill>
                <a:latin typeface="Aptos"/>
                <a:ea typeface="Aptos"/>
                <a:cs typeface="Aptos"/>
              </a:rPr>
              <a:t>данные, правила и куб остаются на машине пользователя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45797A1C-4D97-4A5C-B1F3-68ADFFFCB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4495800"/>
            <a:ext cx="2952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F3296"/>
                </a:solidFill>
                <a:latin typeface="Georgia"/>
                <a:ea typeface="Georgia"/>
                <a:cs typeface="Georgia"/>
              </a:defRPr>
            </a:pPr>
            <a:r>
              <a:rPr sz="2925" b="1">
                <a:solidFill>
                  <a:srgbClr val="1F3296"/>
                </a:solidFill>
                <a:latin typeface="Georgia"/>
                <a:ea typeface="Georgia"/>
                <a:cs typeface="Georgia"/>
              </a:rPr>
              <a:t>воспроизводимо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154AA2FE-DE4C-472C-9D74-5410B7341E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5048250"/>
            <a:ext cx="295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0555F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0555F"/>
                </a:solidFill>
                <a:latin typeface="Aptos"/>
                <a:ea typeface="Aptos"/>
                <a:cs typeface="Aptos"/>
              </a:rPr>
              <a:t>каждый срез проходит одинаковые стадии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E591BDC0-2BDC-4760-AECB-22D2876E53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4495800"/>
            <a:ext cx="3143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F3296"/>
                </a:solidFill>
                <a:latin typeface="Georgia"/>
                <a:ea typeface="Georgia"/>
                <a:cs typeface="Georgia"/>
              </a:defRPr>
            </a:pPr>
            <a:r>
              <a:rPr sz="2925" b="1">
                <a:solidFill>
                  <a:srgbClr val="1F3296"/>
                </a:solidFill>
                <a:latin typeface="Georgia"/>
                <a:ea typeface="Georgia"/>
                <a:cs typeface="Georgia"/>
              </a:rPr>
              <a:t>без мутаций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8D064570-38DA-4671-A157-17CCA3CA4A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5048250"/>
            <a:ext cx="3143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0555F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0555F"/>
                </a:solidFill>
                <a:latin typeface="Aptos"/>
                <a:ea typeface="Aptos"/>
                <a:cs typeface="Aptos"/>
              </a:rPr>
              <a:t>дедуп добавляет identity-слой, а не схлопывает факты</a:t>
            </a:r>
          </a:p>
        </p:txBody>
      </p:sp>
    </p:spTree>
    <p:extLst>
      <p:ext uri="{BB962C8B-B14F-4D97-AF65-F5344CB8AC3E}">
        <p14:creationId xmlns:p14="http://schemas.microsoft.com/office/powerpoint/2010/main" val="162082239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36e0970c97b4875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FE1F262-F305-4699-B14B-F1FD8AE656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171450"/>
            <a:ext cx="11811000" cy="651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0478">
            <a:solidFill>
              <a:srgbClr val="7E42F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BE4FD52-51D4-4C64-80FE-60E1C0D1D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171450"/>
            <a:ext cx="11811000" cy="6515100"/>
          </a:xfrm>
          <a:prstGeom xmlns:a="http://schemas.openxmlformats.org/drawingml/2006/main" prst="roundRect">
            <a:avLst>
              <a:gd name="adj" fmla="val 5263"/>
            </a:avLst>
          </a:prstGeom>
          <a:noFill xmlns:a="http://schemas.openxmlformats.org/drawingml/2006/main"/>
          <a:ln xmlns:a="http://schemas.openxmlformats.org/drawingml/2006/main" w="13335">
            <a:solidFill>
              <a:srgbClr val="1F3296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1038C50-C107-4C80-9F9C-B03DEA9619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" y="457200"/>
            <a:ext cx="2476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@exoldoff | JMLC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7E0C931-FD5E-4704-BE02-504259EA40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381000"/>
            <a:ext cx="1047750" cy="419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B1644"/>
          </a:solidFill>
          <a:ln xmlns:a="http://schemas.openxmlformats.org/drawingml/2006/main" w="9525">
            <a:solidFill>
              <a:srgbClr val="0B164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2026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9ED5297-CBE7-4D34-89E4-EC9AC458A3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09550" y="325755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1644"/>
          </a:solidFill>
          <a:ln xmlns:a="http://schemas.openxmlformats.org/drawingml/2006/main" w="0">
            <a:solidFill>
              <a:srgbClr val="0B1644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A7354A7-F9F0-45BF-8C13-3D0DA1E185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71450" y="3209925"/>
            <a:ext cx="3429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3150" b="1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pPr>
            <a:r>
              <a:rPr sz="3150" b="1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*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86C76CA-B8CF-4C6C-BB76-4D3E938742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82450" y="325755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1644"/>
          </a:solidFill>
          <a:ln xmlns:a="http://schemas.openxmlformats.org/drawingml/2006/main" w="0">
            <a:solidFill>
              <a:srgbClr val="0B1644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B20F77B-AEFC-4752-8CF6-539026168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20550" y="3209925"/>
            <a:ext cx="3429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3150" b="1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pPr>
            <a:r>
              <a:rPr sz="3150" b="1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*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CD314B5-1F48-4F86-952D-D03ECC793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885825"/>
            <a:ext cx="438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50555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50555F"/>
                </a:solidFill>
                <a:latin typeface="Aptos"/>
                <a:ea typeface="Aptos"/>
                <a:cs typeface="Aptos"/>
              </a:rPr>
              <a:t>инженерная база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6C7EE55-B532-4E77-8A04-ACA3123AC0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153150"/>
            <a:ext cx="419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0555F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0555F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BF4ACB4-4B5D-49D8-A7BB-C6DDEB2180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200150"/>
            <a:ext cx="87630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F3296"/>
                </a:solidFill>
                <a:latin typeface="Georgia"/>
                <a:ea typeface="Georgia"/>
                <a:cs typeface="Georgia"/>
              </a:defRPr>
            </a:pPr>
            <a:r>
              <a:rPr sz="3300" b="1">
                <a:solidFill>
                  <a:srgbClr val="1F3296"/>
                </a:solidFill>
                <a:latin typeface="Georgia"/>
                <a:ea typeface="Georgia"/>
                <a:cs typeface="Georgia"/>
              </a:rPr>
              <a:t>Сначала построен надежный ETL-контур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9229EBA-7471-4BB6-A979-8046F59D60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00300"/>
            <a:ext cx="8096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Web-app управляет проектами, планом загрузок, классификатором, кубом и экспортами.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BE05C3A-2565-4696-A27C-796A3433E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200400"/>
            <a:ext cx="22383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F3296"/>
                </a:solidFill>
                <a:latin typeface="Georgia"/>
                <a:ea typeface="Georgia"/>
                <a:cs typeface="Georgia"/>
              </a:defRPr>
            </a:pPr>
            <a:r>
              <a:rPr sz="3300" b="1">
                <a:solidFill>
                  <a:srgbClr val="1F3296"/>
                </a:solidFill>
                <a:latin typeface="Georgia"/>
                <a:ea typeface="Georgia"/>
                <a:cs typeface="Georgia"/>
              </a:rPr>
              <a:t>913 592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84A5DEA-49DA-4ADF-ACC2-4C68A664CA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752850"/>
            <a:ext cx="22383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0555F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0555F"/>
                </a:solidFill>
                <a:latin typeface="Aptos"/>
                <a:ea typeface="Aptos"/>
                <a:cs typeface="Aptos"/>
              </a:rPr>
              <a:t>строк в локальном dev cube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8035A79-B58A-439F-B28B-7B003585B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200400"/>
            <a:ext cx="2190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F3296"/>
                </a:solidFill>
                <a:latin typeface="Georgia"/>
                <a:ea typeface="Georgia"/>
                <a:cs typeface="Georgia"/>
              </a:defRPr>
            </a:pPr>
            <a:r>
              <a:rPr sz="3300" b="1">
                <a:solidFill>
                  <a:srgbClr val="1F3296"/>
                </a:solidFill>
                <a:latin typeface="Georgia"/>
                <a:ea typeface="Georgia"/>
                <a:cs typeface="Georgia"/>
              </a:rPr>
              <a:t>137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5957F93-A197-4D36-96E1-075BFC27D6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752850"/>
            <a:ext cx="219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0555F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0555F"/>
                </a:solidFill>
                <a:latin typeface="Aptos"/>
                <a:ea typeface="Aptos"/>
                <a:cs typeface="Aptos"/>
              </a:rPr>
              <a:t>загруженных срезов в registry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D76A3B1-F728-4175-92B4-165B02BAE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3200400"/>
            <a:ext cx="2095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F3296"/>
                </a:solidFill>
                <a:latin typeface="Georgia"/>
                <a:ea typeface="Georgia"/>
                <a:cs typeface="Georgia"/>
              </a:defRPr>
            </a:pPr>
            <a:r>
              <a:rPr sz="3300" b="1">
                <a:solidFill>
                  <a:srgbClr val="1F3296"/>
                </a:solidFill>
                <a:latin typeface="Georgia"/>
                <a:ea typeface="Georgia"/>
                <a:cs typeface="Georgia"/>
              </a:rPr>
              <a:t>226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D1E67A0-5398-48C9-BD90-70985375ED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3752850"/>
            <a:ext cx="2095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0555F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0555F"/>
                </a:solidFill>
                <a:latin typeface="Aptos"/>
                <a:ea typeface="Aptos"/>
                <a:cs typeface="Aptos"/>
              </a:rPr>
              <a:t>правил классификатора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779F705-1D06-4620-8425-9639DF754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3200400"/>
            <a:ext cx="195262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F3296"/>
                </a:solidFill>
                <a:latin typeface="Georgia"/>
                <a:ea typeface="Georgia"/>
                <a:cs typeface="Georgia"/>
              </a:defRPr>
            </a:pPr>
            <a:r>
              <a:rPr sz="3300" b="1">
                <a:solidFill>
                  <a:srgbClr val="1F3296"/>
                </a:solidFill>
                <a:latin typeface="Georgia"/>
                <a:ea typeface="Georgia"/>
                <a:cs typeface="Georgia"/>
              </a:rPr>
              <a:t>222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3EBCD7A-D706-4511-9D59-FD2325C9B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3752850"/>
            <a:ext cx="19526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0555F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0555F"/>
                </a:solidFill>
                <a:latin typeface="Aptos"/>
                <a:ea typeface="Aptos"/>
                <a:cs typeface="Aptos"/>
              </a:rPr>
              <a:t>активных правил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E18441C-20E3-4B9F-B12D-FDB5E7AE14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4667250"/>
            <a:ext cx="92392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• единица работы: проект + маркетплейс + категория + год + месяц</a:t>
            </a:r>
          </a:p>
          <a:p xmlns:a="http://schemas.openxmlformats.org/drawingml/2006/main">
            <a:pPr>
              <a:defRPr sz="14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• classified CSV попадает в DuckDB через транзакционный staging</a:t>
            </a:r>
          </a:p>
          <a:p xmlns:a="http://schemas.openxmlformats.org/drawingml/2006/main">
            <a:pPr>
              <a:defRPr sz="14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• пользователь правит правила через вкладку «Классификатор», а не руками в JSON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AFC4CFA-6E38-40FE-AC13-A1366DBA38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334125"/>
            <a:ext cx="781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B7280"/>
                </a:solidFill>
                <a:latin typeface="Aptos"/>
                <a:ea typeface="Aptos"/>
                <a:cs typeface="Aptos"/>
              </a:rPr>
              <a:t>Локальный dev evidence из плана; не является гарантией состояния машины пользователя.</a:t>
            </a:r>
          </a:p>
        </p:txBody>
      </p:sp>
    </p:spTree>
    <p:extLst>
      <p:ext uri="{BB962C8B-B14F-4D97-AF65-F5344CB8AC3E}">
        <p14:creationId xmlns:p14="http://schemas.microsoft.com/office/powerpoint/2010/main" val="299553921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afa4b4d9509423a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6F5D4BE-26A7-444E-BC94-2182C3D042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171450"/>
            <a:ext cx="11811000" cy="651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0478">
            <a:solidFill>
              <a:srgbClr val="7E42F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2FF1D6A-56CA-44D3-8461-87267BDD3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171450"/>
            <a:ext cx="11811000" cy="6515100"/>
          </a:xfrm>
          <a:prstGeom xmlns:a="http://schemas.openxmlformats.org/drawingml/2006/main" prst="roundRect">
            <a:avLst>
              <a:gd name="adj" fmla="val 5263"/>
            </a:avLst>
          </a:prstGeom>
          <a:noFill xmlns:a="http://schemas.openxmlformats.org/drawingml/2006/main"/>
          <a:ln xmlns:a="http://schemas.openxmlformats.org/drawingml/2006/main" w="13335">
            <a:solidFill>
              <a:srgbClr val="1F3296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7156A3C-76C0-46D2-8006-BED81B8F4D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" y="457200"/>
            <a:ext cx="2476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@exoldoff | JMLC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5E71017-36BA-4184-AE1B-4B885F9B6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381000"/>
            <a:ext cx="1047750" cy="419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B1644"/>
          </a:solidFill>
          <a:ln xmlns:a="http://schemas.openxmlformats.org/drawingml/2006/main" w="9525">
            <a:solidFill>
              <a:srgbClr val="0B164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2026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E42BCE0-4675-402C-8500-57BBB1F318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09550" y="325755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1644"/>
          </a:solidFill>
          <a:ln xmlns:a="http://schemas.openxmlformats.org/drawingml/2006/main" w="0">
            <a:solidFill>
              <a:srgbClr val="0B1644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FCEE20D-0868-4441-B101-F5E7F62BD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71450" y="3209925"/>
            <a:ext cx="3429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3150" b="1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pPr>
            <a:r>
              <a:rPr sz="3150" b="1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*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A4FC53A-ECD4-4779-A6CE-C93ED934DB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82450" y="325755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1644"/>
          </a:solidFill>
          <a:ln xmlns:a="http://schemas.openxmlformats.org/drawingml/2006/main" w="0">
            <a:solidFill>
              <a:srgbClr val="0B1644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704A427-59B6-4CC4-9A23-B51A17014D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20550" y="3209925"/>
            <a:ext cx="3429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3150" b="1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pPr>
            <a:r>
              <a:rPr sz="3150" b="1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*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EC3ABBB-A153-4AF5-97EF-6CE6776FFA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885825"/>
            <a:ext cx="438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50555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50555F"/>
                </a:solidFill>
                <a:latin typeface="Aptos"/>
                <a:ea typeface="Aptos"/>
                <a:cs typeface="Aptos"/>
              </a:rPr>
              <a:t>переход к ML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218BEDD-CF7A-4714-9194-1D920F2BD2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153150"/>
            <a:ext cx="419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0555F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0555F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857C425-9734-484C-862A-781783ADEA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200150"/>
            <a:ext cx="87630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F3296"/>
                </a:solidFill>
                <a:latin typeface="Georgia"/>
                <a:ea typeface="Georgia"/>
                <a:cs typeface="Georgia"/>
              </a:defRPr>
            </a:pPr>
            <a:r>
              <a:rPr sz="3300" b="1">
                <a:solidFill>
                  <a:srgbClr val="1F3296"/>
                </a:solidFill>
                <a:latin typeface="Georgia"/>
                <a:ea typeface="Georgia"/>
                <a:cs typeface="Georgia"/>
              </a:rPr>
              <a:t>SKU-дедуп сложнее обычной классификации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5CAD3D3-27CE-4B3C-8F94-1A4EAABDF9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00300"/>
            <a:ext cx="8096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Модель должна связать карточки одного базового товара и не склеить разные продукты.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3B02306-61D9-4579-92FD-D02EC5602A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1390650"/>
            <a:ext cx="8001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6300" b="1">
                <a:solidFill>
                  <a:srgbClr val="0B1644"/>
                </a:solidFill>
                <a:latin typeface="Georgia"/>
                <a:ea typeface="Georgia"/>
                <a:cs typeface="Georgia"/>
              </a:defRPr>
            </a:pPr>
            <a:r>
              <a:rPr sz="6300" b="1">
                <a:solidFill>
                  <a:srgbClr val="0B1644"/>
                </a:solidFill>
                <a:latin typeface="Georgia"/>
                <a:ea typeface="Georgia"/>
                <a:cs typeface="Georgia"/>
              </a:rPr>
              <a:t>*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904887F-3DB0-47D8-8075-B7A8DD5E58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067050"/>
            <a:ext cx="4171950" cy="1952625"/>
          </a:xfrm>
          <a:prstGeom xmlns:a="http://schemas.openxmlformats.org/drawingml/2006/main" prst="roundRect">
            <a:avLst>
              <a:gd name="adj" fmla="val 11707"/>
            </a:avLst>
          </a:prstGeom>
          <a:noFill xmlns:a="http://schemas.openxmlformats.org/drawingml/2006/main"/>
          <a:ln xmlns:a="http://schemas.openxmlformats.org/drawingml/2006/main" w="13335">
            <a:solidFill>
              <a:srgbClr val="1F3296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5B8A8C8-BE6E-44E8-B947-4CDD6F2FB7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314700"/>
            <a:ext cx="1809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F3296"/>
                </a:solidFill>
                <a:latin typeface="Georgia"/>
                <a:ea typeface="Georgia"/>
                <a:cs typeface="Georgia"/>
              </a:defRPr>
            </a:pPr>
            <a:r>
              <a:rPr sz="2850" b="1">
                <a:solidFill>
                  <a:srgbClr val="1F3296"/>
                </a:solidFill>
                <a:latin typeface="Georgia"/>
                <a:ea typeface="Georgia"/>
                <a:cs typeface="Georgia"/>
              </a:rPr>
              <a:t>family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034F5C2-E7FC-4BED-8682-CF617AFB3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886200"/>
            <a:ext cx="32575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базовый товар</a:t>
            </a:r>
          </a:p>
          <a:p xmlns:a="http://schemas.openxmlformats.org/drawingml/2006/main">
            <a:pPr>
              <a:defRPr sz="157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например «кокосовое масло Roi Thai»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340AA55-6B1A-43AC-9E30-EE52A18D1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3067050"/>
            <a:ext cx="4171950" cy="1952625"/>
          </a:xfrm>
          <a:prstGeom xmlns:a="http://schemas.openxmlformats.org/drawingml/2006/main" prst="roundRect">
            <a:avLst>
              <a:gd name="adj" fmla="val 11707"/>
            </a:avLst>
          </a:prstGeom>
          <a:noFill xmlns:a="http://schemas.openxmlformats.org/drawingml/2006/main"/>
          <a:ln xmlns:a="http://schemas.openxmlformats.org/drawingml/2006/main" w="13335">
            <a:solidFill>
              <a:srgbClr val="1F3296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A653638-3F1C-41A2-9B6F-C3ADEC8056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3314700"/>
            <a:ext cx="1809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F3296"/>
                </a:solidFill>
                <a:latin typeface="Georgia"/>
                <a:ea typeface="Georgia"/>
                <a:cs typeface="Georgia"/>
              </a:defRPr>
            </a:pPr>
            <a:r>
              <a:rPr sz="2850" b="1">
                <a:solidFill>
                  <a:srgbClr val="1F3296"/>
                </a:solidFill>
                <a:latin typeface="Georgia"/>
                <a:ea typeface="Georgia"/>
                <a:cs typeface="Georgia"/>
              </a:rPr>
              <a:t>pack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3B8F1DD-2E60-47B1-937E-1AC7B57C30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886200"/>
            <a:ext cx="33528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конкретная фасовка</a:t>
            </a:r>
          </a:p>
          <a:p xmlns:a="http://schemas.openxmlformats.org/drawingml/2006/main">
            <a:pPr>
              <a:defRPr sz="157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200 г и 3 × 200 г могут быть одной family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B35E18C-3108-4879-9044-0B439F441E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5410200"/>
            <a:ext cx="8001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B43838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B43838"/>
                </a:solidFill>
                <a:latin typeface="Aptos"/>
                <a:ea typeface="Aptos"/>
                <a:cs typeface="Aptos"/>
              </a:rPr>
              <a:t>False merge дороже false split: ошибочная склейка портит справочник, пропущенный дубль можно добрать позже.</a:t>
            </a:r>
          </a:p>
        </p:txBody>
      </p:sp>
    </p:spTree>
    <p:extLst>
      <p:ext uri="{BB962C8B-B14F-4D97-AF65-F5344CB8AC3E}">
        <p14:creationId xmlns:p14="http://schemas.microsoft.com/office/powerpoint/2010/main" val="458230790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4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e103886e6464292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6883EAE-CF2E-4962-92F1-1835F73AA5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171450"/>
            <a:ext cx="11811000" cy="651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0478">
            <a:solidFill>
              <a:srgbClr val="7E42F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3E89255-6B0C-407E-AB4F-68BBD4771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171450"/>
            <a:ext cx="11811000" cy="6515100"/>
          </a:xfrm>
          <a:prstGeom xmlns:a="http://schemas.openxmlformats.org/drawingml/2006/main" prst="roundRect">
            <a:avLst>
              <a:gd name="adj" fmla="val 5263"/>
            </a:avLst>
          </a:prstGeom>
          <a:noFill xmlns:a="http://schemas.openxmlformats.org/drawingml/2006/main"/>
          <a:ln xmlns:a="http://schemas.openxmlformats.org/drawingml/2006/main" w="13335">
            <a:solidFill>
              <a:srgbClr val="1F3296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D759282-514F-4F0F-AEE0-3CC41DA765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" y="457200"/>
            <a:ext cx="2476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@exoldoff | JMLC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582BFBB-B307-4542-9599-C4C50BBE5D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381000"/>
            <a:ext cx="1047750" cy="419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B1644"/>
          </a:solidFill>
          <a:ln xmlns:a="http://schemas.openxmlformats.org/drawingml/2006/main" w="9525">
            <a:solidFill>
              <a:srgbClr val="0B164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2026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82631CC-CC72-4DD6-9CEA-0EE9604DAC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09550" y="325755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1644"/>
          </a:solidFill>
          <a:ln xmlns:a="http://schemas.openxmlformats.org/drawingml/2006/main" w="0">
            <a:solidFill>
              <a:srgbClr val="0B1644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6CB2231-C545-4112-A8DE-3F06424392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71450" y="3209925"/>
            <a:ext cx="3429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3150" b="1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pPr>
            <a:r>
              <a:rPr sz="3150" b="1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*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4F509DB-21E4-477F-AA2E-7FF408152E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82450" y="325755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1644"/>
          </a:solidFill>
          <a:ln xmlns:a="http://schemas.openxmlformats.org/drawingml/2006/main" w="0">
            <a:solidFill>
              <a:srgbClr val="0B1644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AFC87C0-DEA2-4612-A887-159D81343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20550" y="3209925"/>
            <a:ext cx="3429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3150" b="1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pPr>
            <a:r>
              <a:rPr sz="3150" b="1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*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5E88503-195E-4B35-AD05-1AF41D06C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885825"/>
            <a:ext cx="438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50555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50555F"/>
                </a:solidFill>
                <a:latin typeface="Aptos"/>
                <a:ea typeface="Aptos"/>
                <a:cs typeface="Aptos"/>
              </a:rPr>
              <a:t>research до production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7224064-78CB-4D53-ACD4-6798E707E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153150"/>
            <a:ext cx="419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0555F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0555F"/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339E17D-11FD-4029-BC9A-B7794E365B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200150"/>
            <a:ext cx="87630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F3296"/>
                </a:solidFill>
                <a:latin typeface="Georgia"/>
                <a:ea typeface="Georgia"/>
                <a:cs typeface="Georgia"/>
              </a:defRPr>
            </a:pPr>
            <a:r>
              <a:rPr sz="3300" b="1">
                <a:solidFill>
                  <a:srgbClr val="1F3296"/>
                </a:solidFill>
                <a:latin typeface="Georgia"/>
                <a:ea typeface="Georgia"/>
                <a:cs typeface="Georgia"/>
              </a:rPr>
              <a:t>Research проверяет метод до переноса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DE8A936-DF7A-483F-9644-F14841956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00300"/>
            <a:ext cx="8096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Каждый этап имеет свою метрику: нельзя спрятать слабый retrieval внутри финального F1.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0F4910F-E878-457D-8879-A438DD2445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009900"/>
            <a:ext cx="1254125" cy="800100"/>
          </a:xfrm>
          <a:prstGeom xmlns:a="http://schemas.openxmlformats.org/drawingml/2006/main" prst="roundRect">
            <a:avLst>
              <a:gd name="adj" fmla="val 21429"/>
            </a:avLst>
          </a:prstGeom>
          <a:noFill xmlns:a="http://schemas.openxmlformats.org/drawingml/2006/main"/>
          <a:ln xmlns:a="http://schemas.openxmlformats.org/drawingml/2006/main" w="13335">
            <a:solidFill>
              <a:srgbClr val="1F3296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C789633-E6DC-4AC0-9E61-8866E2B483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162300"/>
            <a:ext cx="10636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F3296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F3296"/>
                </a:solidFill>
                <a:latin typeface="Aptos"/>
                <a:ea typeface="Aptos"/>
                <a:cs typeface="Aptos"/>
              </a:rPr>
              <a:t>EDA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3682DC8-1CE2-453F-BAC6-3E68267603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3750" y="3171825"/>
            <a:ext cx="19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0B1644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0B1644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4DAD670-DBBD-4870-B37D-A97FC15BA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87575" y="3009900"/>
            <a:ext cx="1254125" cy="800100"/>
          </a:xfrm>
          <a:prstGeom xmlns:a="http://schemas.openxmlformats.org/drawingml/2006/main" prst="roundRect">
            <a:avLst>
              <a:gd name="adj" fmla="val 21429"/>
            </a:avLst>
          </a:prstGeom>
          <a:noFill xmlns:a="http://schemas.openxmlformats.org/drawingml/2006/main"/>
          <a:ln xmlns:a="http://schemas.openxmlformats.org/drawingml/2006/main" w="13335">
            <a:solidFill>
              <a:srgbClr val="1F3296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6E1FEB6-DD3C-4E1F-ADA1-790917E9F9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2825" y="3162300"/>
            <a:ext cx="10636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F3296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F3296"/>
                </a:solidFill>
                <a:latin typeface="Aptos"/>
                <a:ea typeface="Aptos"/>
                <a:cs typeface="Aptos"/>
              </a:rPr>
              <a:t>FAISS</a:t>
            </a:r>
          </a:p>
          <a:p xmlns:a="http://schemas.openxmlformats.org/drawingml/2006/main">
            <a:pPr algn="ctr">
              <a:defRPr sz="1125" b="1">
                <a:solidFill>
                  <a:srgbClr val="1F3296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F3296"/>
                </a:solidFill>
                <a:latin typeface="Aptos"/>
                <a:ea typeface="Aptos"/>
                <a:cs typeface="Aptos"/>
              </a:rPr>
              <a:t>кандидаты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EF366D2-61A7-40CB-8C6A-6108A5BE8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3125" y="3171825"/>
            <a:ext cx="19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0B1644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0B1644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0C1A58B-7260-4739-B17F-0BBA10EED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36950" y="3009900"/>
            <a:ext cx="1254125" cy="800100"/>
          </a:xfrm>
          <a:prstGeom xmlns:a="http://schemas.openxmlformats.org/drawingml/2006/main" prst="roundRect">
            <a:avLst>
              <a:gd name="adj" fmla="val 21429"/>
            </a:avLst>
          </a:prstGeom>
          <a:noFill xmlns:a="http://schemas.openxmlformats.org/drawingml/2006/main"/>
          <a:ln xmlns:a="http://schemas.openxmlformats.org/drawingml/2006/main" w="13335">
            <a:solidFill>
              <a:srgbClr val="1F3296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80F2071-D146-4747-90B3-82A2B5DE38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2200" y="3162300"/>
            <a:ext cx="10636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F3296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F3296"/>
                </a:solidFill>
                <a:latin typeface="Aptos"/>
                <a:ea typeface="Aptos"/>
                <a:cs typeface="Aptos"/>
              </a:rPr>
              <a:t>разметка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FCE6107-97BC-43B2-AA53-D1D406CE5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171825"/>
            <a:ext cx="19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0B1644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0B1644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3A54889-4244-4F12-88A7-200D562EF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86325" y="3009900"/>
            <a:ext cx="1254125" cy="800100"/>
          </a:xfrm>
          <a:prstGeom xmlns:a="http://schemas.openxmlformats.org/drawingml/2006/main" prst="roundRect">
            <a:avLst>
              <a:gd name="adj" fmla="val 21429"/>
            </a:avLst>
          </a:prstGeom>
          <a:noFill xmlns:a="http://schemas.openxmlformats.org/drawingml/2006/main"/>
          <a:ln xmlns:a="http://schemas.openxmlformats.org/drawingml/2006/main" w="13335">
            <a:solidFill>
              <a:srgbClr val="1F3296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9D963E3-C959-42F1-814B-DFFB54A536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3162300"/>
            <a:ext cx="10636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F3296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F3296"/>
                </a:solidFill>
                <a:latin typeface="Aptos"/>
                <a:ea typeface="Aptos"/>
                <a:cs typeface="Aptos"/>
              </a:rPr>
              <a:t>reranker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C126F06-7976-4706-8E9A-949DBFE83D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1875" y="3171825"/>
            <a:ext cx="19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0B1644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0B1644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591C7A2-E099-4E22-A32A-154E895350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5700" y="3009900"/>
            <a:ext cx="1254125" cy="800100"/>
          </a:xfrm>
          <a:prstGeom xmlns:a="http://schemas.openxmlformats.org/drawingml/2006/main" prst="roundRect">
            <a:avLst>
              <a:gd name="adj" fmla="val 21429"/>
            </a:avLst>
          </a:prstGeom>
          <a:noFill xmlns:a="http://schemas.openxmlformats.org/drawingml/2006/main"/>
          <a:ln xmlns:a="http://schemas.openxmlformats.org/drawingml/2006/main" w="13335">
            <a:solidFill>
              <a:srgbClr val="1F3296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BD36993-D078-4E6D-AB82-250D57C510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0950" y="3162300"/>
            <a:ext cx="10636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F3296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F3296"/>
                </a:solidFill>
                <a:latin typeface="Aptos"/>
                <a:ea typeface="Aptos"/>
                <a:cs typeface="Aptos"/>
              </a:rPr>
              <a:t>threshold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B2593D3-8579-4CA5-A32D-17B045C3F9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1250" y="3171825"/>
            <a:ext cx="19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0B1644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0B1644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674C988-FED3-4E24-B6AF-14E2D56F52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5075" y="3009900"/>
            <a:ext cx="1254125" cy="80010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0B1644"/>
          </a:solidFill>
          <a:ln xmlns:a="http://schemas.openxmlformats.org/drawingml/2006/main" w="13335">
            <a:solidFill>
              <a:srgbClr val="1F3296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34141BC-9364-4801-BAE2-BA14FD6D4D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325" y="3162300"/>
            <a:ext cx="10636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graph</a:t>
            </a:r>
          </a:p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grouping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D5A52D3-E3C7-4A8C-81FD-6B2E2823C5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495800"/>
            <a:ext cx="1809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F3296"/>
                </a:solidFill>
                <a:latin typeface="Georgia"/>
                <a:ea typeface="Georgia"/>
                <a:cs typeface="Georgia"/>
              </a:defRPr>
            </a:pPr>
            <a:r>
              <a:rPr sz="2850" b="1">
                <a:solidFill>
                  <a:srgbClr val="1F3296"/>
                </a:solidFill>
                <a:latin typeface="Georgia"/>
                <a:ea typeface="Georgia"/>
                <a:cs typeface="Georgia"/>
              </a:rPr>
              <a:t>107k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79AC9BD-BACE-49D4-A8B5-6008FA8C25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5048250"/>
            <a:ext cx="1809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0555F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0555F"/>
                </a:solidFill>
                <a:latin typeface="Aptos"/>
                <a:ea typeface="Aptos"/>
                <a:cs typeface="Aptos"/>
              </a:rPr>
              <a:t>candidate pairs: sauces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C086591-EB61-47BF-953E-A82B14BA7C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4495800"/>
            <a:ext cx="2095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F3296"/>
                </a:solidFill>
                <a:latin typeface="Georgia"/>
                <a:ea typeface="Georgia"/>
                <a:cs typeface="Georgia"/>
              </a:defRPr>
            </a:pPr>
            <a:r>
              <a:rPr sz="2850" b="1">
                <a:solidFill>
                  <a:srgbClr val="1F3296"/>
                </a:solidFill>
                <a:latin typeface="Georgia"/>
                <a:ea typeface="Georgia"/>
                <a:cs typeface="Georgia"/>
              </a:rPr>
              <a:t>21.6k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AFCAE5DA-1A56-42B7-8EAC-DA7795D7C0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5048250"/>
            <a:ext cx="2095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0555F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0555F"/>
                </a:solidFill>
                <a:latin typeface="Aptos"/>
                <a:ea typeface="Aptos"/>
                <a:cs typeface="Aptos"/>
              </a:rPr>
              <a:t>candidate pairs: coconut oil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C15042FA-BFDE-41B9-9412-2957615E6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495800"/>
            <a:ext cx="1809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F3296"/>
                </a:solidFill>
                <a:latin typeface="Georgia"/>
                <a:ea typeface="Georgia"/>
                <a:cs typeface="Georgia"/>
              </a:defRPr>
            </a:pPr>
            <a:r>
              <a:rPr sz="2850" b="1">
                <a:solidFill>
                  <a:srgbClr val="1F3296"/>
                </a:solidFill>
                <a:latin typeface="Georgia"/>
                <a:ea typeface="Georgia"/>
                <a:cs typeface="Georgia"/>
              </a:rPr>
              <a:t>479k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1FCF536B-A79D-4E67-BB55-9A6445672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5048250"/>
            <a:ext cx="1809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0555F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0555F"/>
                </a:solidFill>
                <a:latin typeface="Aptos"/>
                <a:ea typeface="Aptos"/>
                <a:cs typeface="Aptos"/>
              </a:rPr>
              <a:t>candidate pairs: soap</a:t>
            </a:r>
          </a:p>
        </p:txBody>
      </p:sp>
      <p:graphicFrame>
        <p:nvGraphicFramePr>
          <p:cNvPr id="76" name="Chart"/>
          <p:cNvGraphicFramePr/>
          <p:nvPr/>
        </p:nvGraphicFramePr>
        <p:xfrm>
          <a:off xmlns:a="http://schemas.openxmlformats.org/drawingml/2006/main" x="8858250" y="2952750"/>
          <a:ext xmlns:a="http://schemas.openxmlformats.org/drawingml/2006/main" cx="2190750" cy="2190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a43548c9fa004ab0"/>
          </a:graphicData>
        </a:graphic>
      </p:graphicFrame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96C38B5A-AF32-42E6-9401-AC0F055AD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5191125"/>
            <a:ext cx="200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50555F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0555F"/>
                </a:solidFill>
                <a:latin typeface="Aptos"/>
                <a:ea typeface="Aptos"/>
                <a:cs typeface="Aptos"/>
              </a:rPr>
              <a:t>retrieval recall@20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7E063195-E173-43EB-8C94-192F483A4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334125"/>
            <a:ext cx="781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B7280"/>
                </a:solidFill>
                <a:latin typeface="Aptos"/>
                <a:ea typeface="Aptos"/>
                <a:cs typeface="Aptos"/>
              </a:rPr>
              <a:t>Источники в плане: docs/assets/embedding_recall_mini_tests.csv и candidates_*.csv.</a:t>
            </a:r>
          </a:p>
        </p:txBody>
      </p:sp>
    </p:spTree>
    <p:extLst>
      <p:ext uri="{BB962C8B-B14F-4D97-AF65-F5344CB8AC3E}">
        <p14:creationId xmlns:p14="http://schemas.microsoft.com/office/powerpoint/2010/main" val="1172776606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39a6011935d4351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5025D34-C095-4B2D-8620-1FD7D6AA0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171450"/>
            <a:ext cx="11811000" cy="651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0478">
            <a:solidFill>
              <a:srgbClr val="7E42F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0FB2D12-B9AC-4E53-B369-9BA78D54BB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171450"/>
            <a:ext cx="11811000" cy="6515100"/>
          </a:xfrm>
          <a:prstGeom xmlns:a="http://schemas.openxmlformats.org/drawingml/2006/main" prst="roundRect">
            <a:avLst>
              <a:gd name="adj" fmla="val 5263"/>
            </a:avLst>
          </a:prstGeom>
          <a:noFill xmlns:a="http://schemas.openxmlformats.org/drawingml/2006/main"/>
          <a:ln xmlns:a="http://schemas.openxmlformats.org/drawingml/2006/main" w="13335">
            <a:solidFill>
              <a:srgbClr val="1F3296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961C22E-3B51-4B22-9876-41F51B8A2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" y="457200"/>
            <a:ext cx="2476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@exoldoff | JMLC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D66F211-B5DD-46C3-A24D-E7DDE7218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381000"/>
            <a:ext cx="1047750" cy="419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B1644"/>
          </a:solidFill>
          <a:ln xmlns:a="http://schemas.openxmlformats.org/drawingml/2006/main" w="9525">
            <a:solidFill>
              <a:srgbClr val="0B164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2026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63DFFF2-71EA-42CF-AD39-E9193910A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09550" y="325755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1644"/>
          </a:solidFill>
          <a:ln xmlns:a="http://schemas.openxmlformats.org/drawingml/2006/main" w="0">
            <a:solidFill>
              <a:srgbClr val="0B1644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28955B7-90DA-4131-B82B-180E0B39C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71450" y="3209925"/>
            <a:ext cx="3429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3150" b="1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pPr>
            <a:r>
              <a:rPr sz="3150" b="1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*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4387021-74AB-4A0A-98CB-940266EEC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82450" y="325755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1644"/>
          </a:solidFill>
          <a:ln xmlns:a="http://schemas.openxmlformats.org/drawingml/2006/main" w="0">
            <a:solidFill>
              <a:srgbClr val="0B1644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50CFF13-3965-4521-84DA-F1805AC9EE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20550" y="3209925"/>
            <a:ext cx="3429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3150" b="1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pPr>
            <a:r>
              <a:rPr sz="3150" b="1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*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19317F9-BF2E-45DD-8432-F65102619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885825"/>
            <a:ext cx="438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50555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50555F"/>
                </a:solidFill>
                <a:latin typeface="Aptos"/>
                <a:ea typeface="Aptos"/>
                <a:cs typeface="Aptos"/>
              </a:rPr>
              <a:t>качество модели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02E66E3-2753-4ADC-8149-0101FCB7B6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153150"/>
            <a:ext cx="419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0555F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0555F"/>
                </a:solidFill>
                <a:latin typeface="Aptos"/>
                <a:ea typeface="Aptos"/>
                <a:cs typeface="Aptos"/>
              </a:rPr>
              <a:t>07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C07035F-0540-4AF7-B1D1-B2F52C92C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200150"/>
            <a:ext cx="87630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F3296"/>
                </a:solidFill>
                <a:latin typeface="Georgia"/>
                <a:ea typeface="Georgia"/>
                <a:cs typeface="Georgia"/>
              </a:defRPr>
            </a:pPr>
            <a:r>
              <a:rPr sz="3300" b="1">
                <a:solidFill>
                  <a:srgbClr val="1F3296"/>
                </a:solidFill>
                <a:latin typeface="Georgia"/>
                <a:ea typeface="Georgia"/>
                <a:cs typeface="Georgia"/>
              </a:rPr>
              <a:t>Fine-tuned BGE стал первым безопасным вариантом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B73EE86-44B5-4366-B697-9553840FB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00300"/>
            <a:ext cx="8096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Порог выбирался на dev, test использовался только для финального readout.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AD8F708-96E0-4089-AFCB-87DF68147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067050"/>
            <a:ext cx="228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F3296"/>
                </a:solidFill>
                <a:latin typeface="Georgia"/>
                <a:ea typeface="Georgia"/>
                <a:cs typeface="Georgia"/>
              </a:defRPr>
            </a:pPr>
            <a:r>
              <a:rPr sz="3150" b="1">
                <a:solidFill>
                  <a:srgbClr val="1F3296"/>
                </a:solidFill>
                <a:latin typeface="Georgia"/>
                <a:ea typeface="Georgia"/>
                <a:cs typeface="Georgia"/>
              </a:rPr>
              <a:t>3 000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A9ABFCD-5F9F-4EDF-88A3-B173C4C2F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619500"/>
            <a:ext cx="2286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0555F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0555F"/>
                </a:solidFill>
                <a:latin typeface="Aptos"/>
                <a:ea typeface="Aptos"/>
                <a:cs typeface="Aptos"/>
              </a:rPr>
              <a:t>строк multi-category labeling CSV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E17DCBB-B360-49E1-8CE3-A14D64E0B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3067050"/>
            <a:ext cx="2000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F3296"/>
                </a:solidFill>
                <a:latin typeface="Georgia"/>
                <a:ea typeface="Georgia"/>
                <a:cs typeface="Georgia"/>
              </a:defRPr>
            </a:pPr>
            <a:r>
              <a:rPr sz="3150" b="1">
                <a:solidFill>
                  <a:srgbClr val="1F3296"/>
                </a:solidFill>
                <a:latin typeface="Georgia"/>
                <a:ea typeface="Georgia"/>
                <a:cs typeface="Georgia"/>
              </a:rPr>
              <a:t>2 465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A6DE24D-F1EC-405D-8AA3-0EBAB6C6B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3619500"/>
            <a:ext cx="2000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0555F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0555F"/>
                </a:solidFill>
                <a:latin typeface="Aptos"/>
                <a:ea typeface="Aptos"/>
                <a:cs typeface="Aptos"/>
              </a:rPr>
              <a:t>clean training pairs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D5363B0-A65D-4AD6-BD02-C555C8671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067050"/>
            <a:ext cx="22383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F3296"/>
                </a:solidFill>
                <a:latin typeface="Georgia"/>
                <a:ea typeface="Georgia"/>
                <a:cs typeface="Georgia"/>
              </a:defRPr>
            </a:pPr>
            <a:r>
              <a:rPr sz="3150" b="1">
                <a:solidFill>
                  <a:srgbClr val="1F3296"/>
                </a:solidFill>
                <a:latin typeface="Georgia"/>
                <a:ea typeface="Georgia"/>
                <a:cs typeface="Georgia"/>
              </a:rPr>
              <a:t>5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1C82F1C-415D-4FD4-9862-3D7165E5D6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619500"/>
            <a:ext cx="22383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0555F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0555F"/>
                </a:solidFill>
                <a:latin typeface="Aptos"/>
                <a:ea typeface="Aptos"/>
                <a:cs typeface="Aptos"/>
              </a:rPr>
              <a:t>пользователей Telegram labeling bot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22C496F-BAF2-4F03-BEC5-B07425420F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067050"/>
            <a:ext cx="2190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0D7A59"/>
                </a:solidFill>
                <a:latin typeface="Georgia"/>
                <a:ea typeface="Georgia"/>
                <a:cs typeface="Georgia"/>
              </a:defRPr>
            </a:pPr>
            <a:r>
              <a:rPr sz="3150" b="1">
                <a:solidFill>
                  <a:srgbClr val="0D7A59"/>
                </a:solidFill>
                <a:latin typeface="Georgia"/>
                <a:ea typeface="Georgia"/>
                <a:cs typeface="Georgia"/>
              </a:rPr>
              <a:t>95.4%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4FC3131-EE1C-4586-97B7-B0079D2EA2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619500"/>
            <a:ext cx="219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0555F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0555F"/>
                </a:solidFill>
                <a:latin typeface="Aptos"/>
                <a:ea typeface="Aptos"/>
                <a:cs typeface="Aptos"/>
              </a:rPr>
              <a:t>precision Fine-tuned BGE</a:t>
            </a:r>
          </a:p>
        </p:txBody>
      </p:sp>
      <p:graphicFrame>
        <p:nvGraphicFramePr>
          <p:cNvPr id="46" name="Chart"/>
          <p:cNvGraphicFramePr/>
          <p:nvPr/>
        </p:nvGraphicFramePr>
        <p:xfrm>
          <a:off xmlns:a="http://schemas.openxmlformats.org/drawingml/2006/main" x="1123950" y="4591050"/>
          <a:ext xmlns:a="http://schemas.openxmlformats.org/drawingml/2006/main" cx="8763000" cy="12192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f862747773354514"/>
          </a:graphicData>
        </a:graphic>
      </p:graphicFrame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7E6EAF0-B820-4BD7-BBA7-74A4E2A550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5924550"/>
            <a:ext cx="2571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0555F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0555F"/>
                </a:solidFill>
                <a:latin typeface="Aptos"/>
                <a:ea typeface="Aptos"/>
                <a:cs typeface="Aptos"/>
              </a:rPr>
              <a:t>test F1, threshold_weighted_cost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D8D133F-CCFA-4502-95A6-D97939AE72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334125"/>
            <a:ext cx="781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B7280"/>
                </a:solidFill>
                <a:latin typeface="Aptos"/>
                <a:ea typeface="Aptos"/>
                <a:cs typeface="Aptos"/>
              </a:rPr>
              <a:t>Источники в плане: training manifest, all_models_terminal_summary.csv, binary_threshold_summary.csv.</a:t>
            </a:r>
          </a:p>
        </p:txBody>
      </p:sp>
    </p:spTree>
    <p:extLst>
      <p:ext uri="{BB962C8B-B14F-4D97-AF65-F5344CB8AC3E}">
        <p14:creationId xmlns:p14="http://schemas.microsoft.com/office/powerpoint/2010/main" val="1024079815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5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f5a054074cb463a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FF4EBA5-4CF0-47D3-9A93-8C62C66A9B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171450"/>
            <a:ext cx="11811000" cy="651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0478">
            <a:solidFill>
              <a:srgbClr val="7E42F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B1BC9C6-E967-46E7-B3F2-7837151473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171450"/>
            <a:ext cx="11811000" cy="6515100"/>
          </a:xfrm>
          <a:prstGeom xmlns:a="http://schemas.openxmlformats.org/drawingml/2006/main" prst="roundRect">
            <a:avLst>
              <a:gd name="adj" fmla="val 5263"/>
            </a:avLst>
          </a:prstGeom>
          <a:noFill xmlns:a="http://schemas.openxmlformats.org/drawingml/2006/main"/>
          <a:ln xmlns:a="http://schemas.openxmlformats.org/drawingml/2006/main" w="13335">
            <a:solidFill>
              <a:srgbClr val="1F3296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DDA3BE1-5C20-4571-B556-F2BB1B893F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" y="457200"/>
            <a:ext cx="2476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@exoldoff | JMLC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A6685C0-E523-49C8-A87F-C57017714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381000"/>
            <a:ext cx="1047750" cy="419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B1644"/>
          </a:solidFill>
          <a:ln xmlns:a="http://schemas.openxmlformats.org/drawingml/2006/main" w="9525">
            <a:solidFill>
              <a:srgbClr val="0B164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2026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6E5015A-6E62-4C22-ABBA-04EA2C1B58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09550" y="325755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1644"/>
          </a:solidFill>
          <a:ln xmlns:a="http://schemas.openxmlformats.org/drawingml/2006/main" w="0">
            <a:solidFill>
              <a:srgbClr val="0B1644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C824281-DCAA-4DF1-8663-478EC02CAB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71450" y="3209925"/>
            <a:ext cx="3429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3150" b="1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pPr>
            <a:r>
              <a:rPr sz="3150" b="1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*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CB6A2E3-2C25-4232-BCCE-45347813A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82450" y="325755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1644"/>
          </a:solidFill>
          <a:ln xmlns:a="http://schemas.openxmlformats.org/drawingml/2006/main" w="0">
            <a:solidFill>
              <a:srgbClr val="0B1644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61BB764-9A6C-41B9-A900-37BE0CB3D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20550" y="3209925"/>
            <a:ext cx="3429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3150" b="1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pPr>
            <a:r>
              <a:rPr sz="3150" b="1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*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C64DDB5-1E3C-4317-A057-4D0FB7657A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885825"/>
            <a:ext cx="438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50555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50555F"/>
                </a:solidFill>
                <a:latin typeface="Aptos"/>
                <a:ea typeface="Aptos"/>
                <a:cs typeface="Aptos"/>
              </a:rPr>
              <a:t>из score в продукт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06E841D-85F1-4CC6-8CE2-6ADE2190D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153150"/>
            <a:ext cx="419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0555F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0555F"/>
                </a:solidFill>
                <a:latin typeface="Aptos"/>
                <a:ea typeface="Aptos"/>
                <a:cs typeface="Aptos"/>
              </a:rPr>
              <a:t>08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84691EB-9B30-4B0D-BFF0-1FC528EFE2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200150"/>
            <a:ext cx="87630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F3296"/>
                </a:solidFill>
                <a:latin typeface="Georgia"/>
                <a:ea typeface="Georgia"/>
                <a:cs typeface="Georgia"/>
              </a:defRPr>
            </a:pPr>
            <a:r>
              <a:rPr sz="3300" b="1">
                <a:solidFill>
                  <a:srgbClr val="1F3296"/>
                </a:solidFill>
                <a:latin typeface="Georgia"/>
                <a:ea typeface="Georgia"/>
                <a:cs typeface="Georgia"/>
              </a:rPr>
              <a:t>Финальный продукт — группы, а не score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3CE51C6-8774-47B6-96EB-64164C8DFA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00300"/>
            <a:ext cx="8096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Pairwise score превращается в family и pack через графовую кластеризацию.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8CA745B-46B1-4FEF-BE89-432160FF52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76375" y="3371850"/>
            <a:ext cx="914400" cy="658368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B1644"/>
          </a:solidFill>
          <a:ln xmlns:a="http://schemas.openxmlformats.org/drawingml/2006/main" w="0">
            <a:solidFill>
              <a:srgbClr val="0B1644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35BEC64-0F1A-4784-A837-85868F1047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3162300"/>
            <a:ext cx="1604963" cy="781050"/>
          </a:xfrm>
          <a:prstGeom xmlns:a="http://schemas.openxmlformats.org/drawingml/2006/main" prst="roundRect">
            <a:avLst>
              <a:gd name="adj" fmla="val 21951"/>
            </a:avLst>
          </a:prstGeom>
          <a:noFill xmlns:a="http://schemas.openxmlformats.org/drawingml/2006/main"/>
          <a:ln xmlns:a="http://schemas.openxmlformats.org/drawingml/2006/main" w="13335">
            <a:solidFill>
              <a:srgbClr val="1F3296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539B156-C316-4168-A98E-3BC565B063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3314700"/>
            <a:ext cx="1414463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F3296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F3296"/>
                </a:solidFill>
                <a:latin typeface="Aptos"/>
                <a:ea typeface="Aptos"/>
                <a:cs typeface="Aptos"/>
              </a:rPr>
              <a:t>positive</a:t>
            </a:r>
          </a:p>
          <a:p xmlns:a="http://schemas.openxmlformats.org/drawingml/2006/main">
            <a:pPr algn="ctr">
              <a:defRPr sz="1200" b="1">
                <a:solidFill>
                  <a:srgbClr val="1F3296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F3296"/>
                </a:solidFill>
                <a:latin typeface="Aptos"/>
                <a:ea typeface="Aptos"/>
                <a:cs typeface="Aptos"/>
              </a:rPr>
              <a:t>pairs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EAAB80E-33A5-4FF5-9674-AE52964A24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9138" y="3324225"/>
            <a:ext cx="209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0B1644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0B1644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360FE73-8303-4ADC-9717-A3103D44CD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72013" y="3162300"/>
            <a:ext cx="1604963" cy="781050"/>
          </a:xfrm>
          <a:prstGeom xmlns:a="http://schemas.openxmlformats.org/drawingml/2006/main" prst="roundRect">
            <a:avLst>
              <a:gd name="adj" fmla="val 21951"/>
            </a:avLst>
          </a:prstGeom>
          <a:noFill xmlns:a="http://schemas.openxmlformats.org/drawingml/2006/main"/>
          <a:ln xmlns:a="http://schemas.openxmlformats.org/drawingml/2006/main" w="13335">
            <a:solidFill>
              <a:srgbClr val="1F3296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3C23FDA-2EEB-4A86-B67A-834D98EC51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7263" y="3314700"/>
            <a:ext cx="1414463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F3296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F3296"/>
                </a:solidFill>
                <a:latin typeface="Aptos"/>
                <a:ea typeface="Aptos"/>
                <a:cs typeface="Aptos"/>
              </a:rPr>
              <a:t>Leiden</a:t>
            </a:r>
          </a:p>
          <a:p xmlns:a="http://schemas.openxmlformats.org/drawingml/2006/main">
            <a:pPr algn="ctr">
              <a:defRPr sz="1200" b="1">
                <a:solidFill>
                  <a:srgbClr val="1F3296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F3296"/>
                </a:solidFill>
                <a:latin typeface="Aptos"/>
                <a:ea typeface="Aptos"/>
                <a:cs typeface="Aptos"/>
              </a:rPr>
              <a:t>family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87CBB7F-B97A-4D62-9FC6-79B9F36EBE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3324225"/>
            <a:ext cx="209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0B1644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0B1644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F31E3AE-DBCE-48D4-837A-F24A92889D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1275" y="3162300"/>
            <a:ext cx="1604963" cy="781050"/>
          </a:xfrm>
          <a:prstGeom xmlns:a="http://schemas.openxmlformats.org/drawingml/2006/main" prst="roundRect">
            <a:avLst>
              <a:gd name="adj" fmla="val 21951"/>
            </a:avLst>
          </a:prstGeom>
          <a:noFill xmlns:a="http://schemas.openxmlformats.org/drawingml/2006/main"/>
          <a:ln xmlns:a="http://schemas.openxmlformats.org/drawingml/2006/main" w="13335">
            <a:solidFill>
              <a:srgbClr val="1F3296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DE39D55-81D6-4B86-8F81-48FE7638E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6525" y="3314700"/>
            <a:ext cx="1414463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F3296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F3296"/>
                </a:solidFill>
                <a:latin typeface="Aptos"/>
                <a:ea typeface="Aptos"/>
                <a:cs typeface="Aptos"/>
              </a:rPr>
              <a:t>pack</a:t>
            </a:r>
          </a:p>
          <a:p xmlns:a="http://schemas.openxmlformats.org/drawingml/2006/main">
            <a:pPr algn="ctr">
              <a:defRPr sz="1200" b="1">
                <a:solidFill>
                  <a:srgbClr val="1F3296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F3296"/>
                </a:solidFill>
                <a:latin typeface="Aptos"/>
                <a:ea typeface="Aptos"/>
                <a:cs typeface="Aptos"/>
              </a:rPr>
              <a:t>signature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DF8C05F-81F2-4F9B-A79A-54E3F867FD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7663" y="3324225"/>
            <a:ext cx="209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0B1644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0B1644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A84F47A-32D2-4330-BF93-6868DEAA86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0538" y="3162300"/>
            <a:ext cx="1604963" cy="781050"/>
          </a:xfrm>
          <a:prstGeom xmlns:a="http://schemas.openxmlformats.org/drawingml/2006/main" prst="roundRect">
            <a:avLst>
              <a:gd name="adj" fmla="val 21951"/>
            </a:avLst>
          </a:prstGeom>
          <a:solidFill xmlns:a="http://schemas.openxmlformats.org/drawingml/2006/main">
            <a:srgbClr val="0B1644"/>
          </a:solidFill>
          <a:ln xmlns:a="http://schemas.openxmlformats.org/drawingml/2006/main" w="13335">
            <a:solidFill>
              <a:srgbClr val="1F3296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B0AFA91-C310-403A-8B76-3EC1ACDC0F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05788" y="3314700"/>
            <a:ext cx="1414463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browser</a:t>
            </a:r>
          </a:p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и CSV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29E9AC8-D239-4529-839E-EEC76E2F4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648200"/>
            <a:ext cx="242887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DFF"/>
          </a:solidFill>
          <a:ln xmlns:a="http://schemas.openxmlformats.org/drawingml/2006/main" w="7620">
            <a:solidFill>
              <a:srgbClr val="C7D2FE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AB96FC9-17BF-4DA5-BD28-A7A3AB61C7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4733925"/>
            <a:ext cx="22574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F3296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F3296"/>
                </a:solidFill>
                <a:latin typeface="Aptos"/>
                <a:ea typeface="Aptos"/>
                <a:cs typeface="Aptos"/>
              </a:rPr>
              <a:t>category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05CB837-7C68-456B-94AB-3128FF0D4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9525" y="4648200"/>
            <a:ext cx="1714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DFF"/>
          </a:solidFill>
          <a:ln xmlns:a="http://schemas.openxmlformats.org/drawingml/2006/main" w="7620">
            <a:solidFill>
              <a:srgbClr val="C7D2FE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4F18D4F-7C8A-4A0B-A23B-D7C540FF2B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4733925"/>
            <a:ext cx="1543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F3296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F3296"/>
                </a:solidFill>
                <a:latin typeface="Aptos"/>
                <a:ea typeface="Aptos"/>
                <a:cs typeface="Aptos"/>
              </a:rPr>
              <a:t>family F1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196391B-38FB-44C4-B07E-57618976A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34025" y="4648200"/>
            <a:ext cx="1714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DFF"/>
          </a:solidFill>
          <a:ln xmlns:a="http://schemas.openxmlformats.org/drawingml/2006/main" w="7620">
            <a:solidFill>
              <a:srgbClr val="C7D2FE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966D6B9-42C1-464D-B051-594C32563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4733925"/>
            <a:ext cx="1543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F3296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F3296"/>
                </a:solidFill>
                <a:latin typeface="Aptos"/>
                <a:ea typeface="Aptos"/>
                <a:cs typeface="Aptos"/>
              </a:rPr>
              <a:t>pack F1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0A6CCED-7A08-4C14-BB82-5ABBFE4CED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5010150"/>
            <a:ext cx="2428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C7D2FE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DFB3002-A5DB-49C5-B54C-F5A87BB655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5095875"/>
            <a:ext cx="22574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sauces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FD78631-AF2D-4013-AEC0-93DA4FDEFC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9525" y="5010150"/>
            <a:ext cx="171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C7D2FE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C6D31831-0255-4606-B99B-A68F95208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5095875"/>
            <a:ext cx="1543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86.5%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F9F9DF94-FF1D-4F28-9654-BA92CC77E9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34025" y="5010150"/>
            <a:ext cx="171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C7D2FE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88FA0E08-FBC7-49B2-B522-391BE9A01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5095875"/>
            <a:ext cx="1543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83.9%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7976E81C-D437-41E1-BE92-92D2C4FBA5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5410200"/>
            <a:ext cx="2428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C7D2FE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06008971-3D40-4980-9F7D-E969FB9559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5495925"/>
            <a:ext cx="22574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coconut oil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339E42ED-0D7E-4784-AD6B-6BD29756C9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9525" y="5410200"/>
            <a:ext cx="171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C7D2FE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6642AE17-5F55-437A-A22E-9C43A90536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5495925"/>
            <a:ext cx="1543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95.5%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CC0D8A23-85F5-4C42-A506-D689F9965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34025" y="5410200"/>
            <a:ext cx="171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C7D2FE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436A13B0-0357-453B-B384-FB1FE1ECE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5495925"/>
            <a:ext cx="1543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94.1%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B84AE5FE-5DD5-46C4-BDEE-FDA1A9E1C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5810250"/>
            <a:ext cx="2428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C7D2FE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2A19B1AC-AE76-45B4-8012-AA7BF613C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5895975"/>
            <a:ext cx="22574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soap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AB1ED2C7-5C0D-41F7-8821-05474542A4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9525" y="5810250"/>
            <a:ext cx="171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C7D2FE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799D894C-5AB4-4FEE-85BE-D59B808D5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5895975"/>
            <a:ext cx="1543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80.9%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E30D64A4-2209-4B80-8789-D63FB106C5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34025" y="5810250"/>
            <a:ext cx="171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C7D2FE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C7978AD0-F0C7-4828-A7DC-75A39CBF3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5895975"/>
            <a:ext cx="1543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66.7%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AF1DBD51-7FE6-439C-B7EC-071BC43C7D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4819650"/>
            <a:ext cx="33337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0D7A59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0D7A59"/>
                </a:solidFill>
                <a:latin typeface="Aptos"/>
                <a:ea typeface="Aptos"/>
                <a:cs typeface="Aptos"/>
              </a:rPr>
              <a:t>Кокосовое масло уже дает очень чистый test-сигнал: 95.5% family F1 и 94.1% pack F1.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76D10857-A98C-4D59-AEEE-3107CA596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334125"/>
            <a:ext cx="781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B7280"/>
                </a:solidFill>
                <a:latin typeface="Aptos"/>
                <a:ea typeface="Aptos"/>
                <a:cs typeface="Aptos"/>
              </a:rPr>
              <a:t>Источники в плане: fusion_pair_eval_*.csv и fusion_components_*.csv.</a:t>
            </a:r>
          </a:p>
        </p:txBody>
      </p:sp>
    </p:spTree>
    <p:extLst>
      <p:ext uri="{BB962C8B-B14F-4D97-AF65-F5344CB8AC3E}">
        <p14:creationId xmlns:p14="http://schemas.microsoft.com/office/powerpoint/2010/main" val="1037453961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7a2c6d6e4204557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A14E079-2E97-4392-823B-E441EB9AA7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171450"/>
            <a:ext cx="11811000" cy="651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0478">
            <a:solidFill>
              <a:srgbClr val="7E42F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6C835E4-8F5B-43A0-90B9-B896F59AEE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171450"/>
            <a:ext cx="11811000" cy="6515100"/>
          </a:xfrm>
          <a:prstGeom xmlns:a="http://schemas.openxmlformats.org/drawingml/2006/main" prst="roundRect">
            <a:avLst>
              <a:gd name="adj" fmla="val 5263"/>
            </a:avLst>
          </a:prstGeom>
          <a:noFill xmlns:a="http://schemas.openxmlformats.org/drawingml/2006/main"/>
          <a:ln xmlns:a="http://schemas.openxmlformats.org/drawingml/2006/main" w="13335">
            <a:solidFill>
              <a:srgbClr val="1F3296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1D7B13A-615E-42C3-AA87-37DA21EDDA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" y="457200"/>
            <a:ext cx="2476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@exoldoff | JMLC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F5CED9D-B6BD-433C-9C16-E0DCC16615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381000"/>
            <a:ext cx="1047750" cy="419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B1644"/>
          </a:solidFill>
          <a:ln xmlns:a="http://schemas.openxmlformats.org/drawingml/2006/main" w="9525">
            <a:solidFill>
              <a:srgbClr val="0B164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2026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75F5ED2-EDA8-4EAE-B751-30CE7BA7E6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09550" y="325755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1644"/>
          </a:solidFill>
          <a:ln xmlns:a="http://schemas.openxmlformats.org/drawingml/2006/main" w="0">
            <a:solidFill>
              <a:srgbClr val="0B1644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CEDFA77-2751-4CDE-AFD3-8CAF79216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71450" y="3209925"/>
            <a:ext cx="3429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3150" b="1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pPr>
            <a:r>
              <a:rPr sz="3150" b="1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*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1C54FD3-B8BE-46BA-8C8B-70C5BA02D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82450" y="325755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1644"/>
          </a:solidFill>
          <a:ln xmlns:a="http://schemas.openxmlformats.org/drawingml/2006/main" w="0">
            <a:solidFill>
              <a:srgbClr val="0B1644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9D0C09C-C8C6-448E-A678-96B16DB49D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20550" y="3209925"/>
            <a:ext cx="3429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3150" b="1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pPr>
            <a:r>
              <a:rPr sz="3150" b="1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*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8A5856C-E6EF-4D22-A570-5182DAED0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885825"/>
            <a:ext cx="438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50555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50555F"/>
                </a:solidFill>
                <a:latin typeface="Aptos"/>
                <a:ea typeface="Aptos"/>
                <a:cs typeface="Aptos"/>
              </a:rPr>
              <a:t>production v1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CF2063D-2D48-455F-BF3E-284234F037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153150"/>
            <a:ext cx="419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0555F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0555F"/>
                </a:solidFill>
                <a:latin typeface="Aptos"/>
                <a:ea typeface="Aptos"/>
                <a:cs typeface="Aptos"/>
              </a:rPr>
              <a:t>09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C7FF920-6CBE-45E7-BD4C-52D0FB514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200150"/>
            <a:ext cx="87630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F3296"/>
                </a:solidFill>
                <a:latin typeface="Georgia"/>
                <a:ea typeface="Georgia"/>
                <a:cs typeface="Georgia"/>
              </a:defRPr>
            </a:pPr>
            <a:r>
              <a:rPr sz="3300" b="1">
                <a:solidFill>
                  <a:srgbClr val="1F3296"/>
                </a:solidFill>
                <a:latin typeface="Georgia"/>
                <a:ea typeface="Georgia"/>
                <a:cs typeface="Georgia"/>
              </a:rPr>
              <a:t>Выбранный дедуп встроен в основной pipeline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A086839-CABB-4D12-A71C-EDEBA43493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00300"/>
            <a:ext cx="8096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После сохранения куба запускается FAISS retrieval и fine-tuned BGE scorer.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465D656-AAD3-4BA7-8087-AD9DB22946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990850"/>
            <a:ext cx="53340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• dedup_runs хранит запуск, модель, threshold и статус</a:t>
            </a:r>
          </a:p>
          <a:p xmlns:a="http://schemas.openxmlformats.org/drawingml/2006/main">
            <a:pPr>
              <a:defRPr sz="150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• dedup_sku_nodes / edges / groups создают identity-слой</a:t>
            </a:r>
          </a:p>
          <a:p xmlns:a="http://schemas.openxmlformats.org/drawingml/2006/main">
            <a:pPr>
              <a:defRPr sz="150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• mpstats_products не мутируется: фактовые строки остаются</a:t>
            </a:r>
          </a:p>
          <a:p xmlns:a="http://schemas.openxmlformats.org/drawingml/2006/main">
            <a:pPr>
              <a:defRPr sz="150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• mpstats_products_dedup материализует browser/export table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592E670-222D-4DE6-851D-A440F1434D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876550"/>
            <a:ext cx="3028950" cy="2095500"/>
          </a:xfrm>
          <a:prstGeom xmlns:a="http://schemas.openxmlformats.org/drawingml/2006/main" prst="roundRect">
            <a:avLst>
              <a:gd name="adj" fmla="val 10000"/>
            </a:avLst>
          </a:prstGeom>
          <a:noFill xmlns:a="http://schemas.openxmlformats.org/drawingml/2006/main"/>
          <a:ln xmlns:a="http://schemas.openxmlformats.org/drawingml/2006/main" w="14288">
            <a:solidFill>
              <a:srgbClr val="1F3296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FCF1BE2-7E9E-42D9-8545-AFF59DA245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105150"/>
            <a:ext cx="2190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F3296"/>
                </a:solidFill>
                <a:latin typeface="Georgia"/>
                <a:ea typeface="Georgia"/>
                <a:cs typeface="Georgia"/>
              </a:defRPr>
            </a:pPr>
            <a:r>
              <a:rPr sz="2250" b="1">
                <a:solidFill>
                  <a:srgbClr val="1F3296"/>
                </a:solidFill>
                <a:latin typeface="Georgia"/>
                <a:ea typeface="Georgia"/>
                <a:cs typeface="Georgia"/>
              </a:rPr>
              <a:t>runtime profile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33C6EF0-F132-4E53-915E-CEEE13301C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619500"/>
            <a:ext cx="2381250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method: ft_bge_reranker_v2_m3</a:t>
            </a:r>
          </a:p>
          <a:p xmlns:a="http://schemas.openxmlformats.org/drawingml/2006/main">
            <a:pPr>
              <a:defRPr sz="127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embeddings: multilingual-e5-small</a:t>
            </a:r>
          </a:p>
          <a:p xmlns:a="http://schemas.openxmlformats.org/drawingml/2006/main">
            <a:pPr>
              <a:defRPr sz="127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FAISS top_k: 30</a:t>
            </a:r>
          </a:p>
          <a:p xmlns:a="http://schemas.openxmlformats.org/drawingml/2006/main">
            <a:pPr>
              <a:defRPr sz="127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activation: sigmoid</a:t>
            </a:r>
          </a:p>
          <a:p xmlns:a="http://schemas.openxmlformats.org/drawingml/2006/main">
            <a:pPr>
              <a:defRPr sz="127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fallback: fail, not silent downgrade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8F9AD86-8B6E-40B9-B336-3C25952C88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5219700"/>
            <a:ext cx="1619250" cy="3619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D7A59"/>
          </a:solidFill>
          <a:ln xmlns:a="http://schemas.openxmlformats.org/drawingml/2006/main" w="9525">
            <a:solidFill>
              <a:srgbClr val="0B164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cache-aware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B386AE6-CA55-4C37-B47C-9AD697E5D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5219700"/>
            <a:ext cx="1381125" cy="3619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F3296"/>
          </a:solidFill>
          <a:ln xmlns:a="http://schemas.openxmlformats.org/drawingml/2006/main" w="9525">
            <a:solidFill>
              <a:srgbClr val="0B164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UI browser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87B7588-95BE-482C-AC47-26E96A93E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5219700"/>
            <a:ext cx="1238250" cy="3619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B1644"/>
          </a:solidFill>
          <a:ln xmlns:a="http://schemas.openxmlformats.org/drawingml/2006/main" w="9525">
            <a:solidFill>
              <a:srgbClr val="0B164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CSV export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CBF16A3-7224-40A4-9259-A9D049D42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334125"/>
            <a:ext cx="781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B7280"/>
                </a:solidFill>
                <a:latin typeface="Aptos"/>
                <a:ea typeface="Aptos"/>
                <a:cs typeface="Aptos"/>
              </a:rPr>
              <a:t>Источники в плане: pipeline/services/dedup, migrations 012-015, mpstats_app/api/dedup.py, web/src/App.tsx.</a:t>
            </a:r>
          </a:p>
        </p:txBody>
      </p:sp>
    </p:spTree>
    <p:extLst>
      <p:ext uri="{BB962C8B-B14F-4D97-AF65-F5344CB8AC3E}">
        <p14:creationId xmlns:p14="http://schemas.microsoft.com/office/powerpoint/2010/main" val="1763846867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4287bac5d384a9e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087EAC2-F487-4636-9AAB-6244BFDEA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171450"/>
            <a:ext cx="11811000" cy="651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0478">
            <a:solidFill>
              <a:srgbClr val="7E42F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3AE61F0-67F7-45F3-978D-978C0C4E7E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171450"/>
            <a:ext cx="11811000" cy="6515100"/>
          </a:xfrm>
          <a:prstGeom xmlns:a="http://schemas.openxmlformats.org/drawingml/2006/main" prst="roundRect">
            <a:avLst>
              <a:gd name="adj" fmla="val 5263"/>
            </a:avLst>
          </a:prstGeom>
          <a:noFill xmlns:a="http://schemas.openxmlformats.org/drawingml/2006/main"/>
          <a:ln xmlns:a="http://schemas.openxmlformats.org/drawingml/2006/main" w="13335">
            <a:solidFill>
              <a:srgbClr val="1F3296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89EAA3C-4398-4CD9-87B0-7EAA2B722F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" y="457200"/>
            <a:ext cx="2476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@exoldoff | JMLC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5220C56-0A5D-4082-B2CF-03C23C551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381000"/>
            <a:ext cx="1047750" cy="419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B1644"/>
          </a:solidFill>
          <a:ln xmlns:a="http://schemas.openxmlformats.org/drawingml/2006/main" w="9525">
            <a:solidFill>
              <a:srgbClr val="0B164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2026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BD0A53A-6781-4677-B97E-FDEB56E99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09550" y="325755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1644"/>
          </a:solidFill>
          <a:ln xmlns:a="http://schemas.openxmlformats.org/drawingml/2006/main" w="0">
            <a:solidFill>
              <a:srgbClr val="0B1644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BD7B015-284E-4B9D-91D2-8E5D6E949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71450" y="3209925"/>
            <a:ext cx="3429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3150" b="1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pPr>
            <a:r>
              <a:rPr sz="3150" b="1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*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B582A99-8C5D-4CAD-96E0-8CBD0D659D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82450" y="325755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1644"/>
          </a:solidFill>
          <a:ln xmlns:a="http://schemas.openxmlformats.org/drawingml/2006/main" w="0">
            <a:solidFill>
              <a:srgbClr val="0B1644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2D72D16-2027-4E33-950D-92682C7C72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20550" y="3209925"/>
            <a:ext cx="3429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3150" b="1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pPr>
            <a:r>
              <a:rPr sz="3150" b="1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*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E82CD8B-1BB0-4E57-9BAC-2FAC300D0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885825"/>
            <a:ext cx="438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50555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50555F"/>
                </a:solidFill>
                <a:latin typeface="Aptos"/>
                <a:ea typeface="Aptos"/>
                <a:cs typeface="Aptos"/>
              </a:rPr>
              <a:t>финал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7E7DC53-5274-4C60-AEEB-06C44D78E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153150"/>
            <a:ext cx="419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0555F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0555F"/>
                </a:solidFill>
                <a:latin typeface="Aptos"/>
                <a:ea typeface="Aptos"/>
                <a:cs typeface="Aptos"/>
              </a:rPr>
              <a:t>10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AA3B422-7AE4-48E7-8F12-356AA3EEC5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200150"/>
            <a:ext cx="87630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F3296"/>
                </a:solidFill>
                <a:latin typeface="Georgia"/>
                <a:ea typeface="Georgia"/>
                <a:cs typeface="Georgia"/>
              </a:defRPr>
            </a:pPr>
            <a:r>
              <a:rPr sz="3300" b="1">
                <a:solidFill>
                  <a:srgbClr val="1F3296"/>
                </a:solidFill>
                <a:latin typeface="Georgia"/>
                <a:ea typeface="Georgia"/>
                <a:cs typeface="Georgia"/>
              </a:rPr>
              <a:t>На кокосовом масле виден бизнес-эффект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633326E-51C9-48E9-90E9-701F1CD8E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00300"/>
            <a:ext cx="8096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ML-дедуп резко снижает хаос в названиях, но не удаляет фактовые строки.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19414BA-0C7B-4655-BF5D-17709D8E5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1162050"/>
            <a:ext cx="857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6750" b="1">
                <a:solidFill>
                  <a:srgbClr val="0B1644"/>
                </a:solidFill>
                <a:latin typeface="Georgia"/>
                <a:ea typeface="Georgia"/>
                <a:cs typeface="Georgia"/>
              </a:defRPr>
            </a:pPr>
            <a:r>
              <a:rPr sz="6750" b="1">
                <a:solidFill>
                  <a:srgbClr val="0B1644"/>
                </a:solidFill>
                <a:latin typeface="Georgia"/>
                <a:ea typeface="Georgia"/>
                <a:cs typeface="Georgia"/>
              </a:rPr>
              <a:t>*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268C8BD-D7E9-40F1-8BCF-A7AE596D2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105150"/>
            <a:ext cx="2762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0D7A59"/>
                </a:solidFill>
                <a:latin typeface="Georgia"/>
                <a:ea typeface="Georgia"/>
                <a:cs typeface="Georgia"/>
              </a:defRPr>
            </a:pPr>
            <a:r>
              <a:rPr sz="3900" b="1">
                <a:solidFill>
                  <a:srgbClr val="0D7A59"/>
                </a:solidFill>
                <a:latin typeface="Georgia"/>
                <a:ea typeface="Georgia"/>
                <a:cs typeface="Georgia"/>
              </a:rPr>
              <a:t>555 → 65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9F21811-69D8-48BC-93D4-2788939F1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657600"/>
            <a:ext cx="2762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0555F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0555F"/>
                </a:solidFill>
                <a:latin typeface="Aptos"/>
                <a:ea typeface="Aptos"/>
                <a:cs typeface="Aptos"/>
              </a:rPr>
              <a:t>уникальных SKU-title после нормализации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A1064EF-B038-4B59-9D87-AEFBCD498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105150"/>
            <a:ext cx="2381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0D7A59"/>
                </a:solidFill>
                <a:latin typeface="Georgia"/>
                <a:ea typeface="Georgia"/>
                <a:cs typeface="Georgia"/>
              </a:defRPr>
            </a:pPr>
            <a:r>
              <a:rPr sz="3900" b="1">
                <a:solidFill>
                  <a:srgbClr val="0D7A59"/>
                </a:solidFill>
                <a:latin typeface="Georgia"/>
                <a:ea typeface="Georgia"/>
                <a:cs typeface="Georgia"/>
              </a:rPr>
              <a:t>88.29%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C4AA382-2FA8-45E9-9184-132FF1C162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657600"/>
            <a:ext cx="2381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0555F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0555F"/>
                </a:solidFill>
                <a:latin typeface="Aptos"/>
                <a:ea typeface="Aptos"/>
                <a:cs typeface="Aptos"/>
              </a:rPr>
              <a:t>снижение уникальности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ACFFEE7-0093-4111-92F6-2AE4C43586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3105150"/>
            <a:ext cx="2095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0D7A59"/>
                </a:solidFill>
                <a:latin typeface="Georgia"/>
                <a:ea typeface="Georgia"/>
                <a:cs typeface="Georgia"/>
              </a:defRPr>
            </a:pPr>
            <a:r>
              <a:rPr sz="3900" b="1">
                <a:solidFill>
                  <a:srgbClr val="0D7A59"/>
                </a:solidFill>
                <a:latin typeface="Georgia"/>
                <a:ea typeface="Georgia"/>
                <a:cs typeface="Georgia"/>
              </a:rPr>
              <a:t>8.54×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430B3E5-7B5C-46F4-A409-ACFC0C2C6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3657600"/>
            <a:ext cx="2095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0555F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0555F"/>
                </a:solidFill>
                <a:latin typeface="Aptos"/>
                <a:ea typeface="Aptos"/>
                <a:cs typeface="Aptos"/>
              </a:rPr>
              <a:t>compression ratio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B343018-ACFE-4E4D-A500-E425C3E8E5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3105150"/>
            <a:ext cx="2000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1F3296"/>
                </a:solidFill>
                <a:latin typeface="Georgia"/>
                <a:ea typeface="Georgia"/>
                <a:cs typeface="Georgia"/>
              </a:defRPr>
            </a:pPr>
            <a:r>
              <a:rPr sz="3450" b="1">
                <a:solidFill>
                  <a:srgbClr val="1F3296"/>
                </a:solidFill>
                <a:latin typeface="Georgia"/>
                <a:ea typeface="Georgia"/>
                <a:cs typeface="Georgia"/>
              </a:rPr>
              <a:t>1 388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495659A-7370-4760-AA00-4DC0347508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3657600"/>
            <a:ext cx="2000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0555F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0555F"/>
                </a:solidFill>
                <a:latin typeface="Aptos"/>
                <a:ea typeface="Aptos"/>
                <a:cs typeface="Aptos"/>
              </a:rPr>
              <a:t>фактовых строк сохранены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7702093-164E-4B72-B0F7-7CBE6710D1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876800"/>
            <a:ext cx="9144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0B1644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0B1644"/>
                </a:solidFill>
                <a:latin typeface="Aptos"/>
                <a:ea typeface="Aptos"/>
                <a:cs typeface="Aptos"/>
              </a:rPr>
              <a:t>Мы построили не только модель, а полный локальный контур: загрузка данных, куб, классификация, разметка, обучение, оценка, graph grouping и production ML-дедуп внутри web-app.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4263728-34CB-4CB3-A9B7-8C3ECE043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334125"/>
            <a:ext cx="781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B7280"/>
                </a:solidFill>
                <a:latin typeface="Aptos"/>
                <a:ea typeface="Aptos"/>
                <a:cs typeface="Aptos"/>
              </a:rPr>
              <a:t>Локальный dev export «Кокосовое масло», run 2026-07-01; источник в плане: dedup_export_stats_2026-07-01.md.</a:t>
            </a:r>
          </a:p>
        </p:txBody>
      </p:sp>
    </p:spTree>
    <p:extLst>
      <p:ext uri="{BB962C8B-B14F-4D97-AF65-F5344CB8AC3E}">
        <p14:creationId xmlns:p14="http://schemas.microsoft.com/office/powerpoint/2010/main" val="193112097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2026-07-01T17:22:41.9510000Z</dcterms:created>
  <dcterms:modified xsi:type="dcterms:W3CDTF">2026-07-01T17:22:41.9510000Z</dcterms:modified>
</coreProperties>
</file>